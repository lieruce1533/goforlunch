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fr-F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457391" name="Espace réservé d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709192314" name="Espace réservé pour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fr-FR"/>
              <a:t>10/30/2013</a:t>
            </a:fld>
            <a:endParaRPr lang="fr-FR"/>
          </a:p>
        </p:txBody>
      </p:sp>
      <p:sp>
        <p:nvSpPr>
          <p:cNvPr id="567831177" name="Espace réservé pour l'image de la diapositive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975922529" name="Remarques Espace réservé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866344545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053516968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4994989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1881741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1590181191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7014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25101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90383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D42E87-A725-192D-41A3-85DD9255A3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3456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16029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46661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4D25A7-F154-0E08-847C-5B0169D9F2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061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8772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231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C2578C-CEE4-F36F-A5DA-1002E752003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2542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8385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14678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DD9D89-C841-9E2E-D61D-2EB9B5A9D7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094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8680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6742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A8699C-60E6-83F7-8E5F-1522C2767F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5331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61439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488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5A6F5A-CD23-5A6E-98E4-13DD0A4C3BD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76903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2129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13717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D8FAB0-8490-276D-AE7B-CE78F3DA15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88000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92020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773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654F98-8C39-B09D-3022-8351AB5347A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108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92088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0821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D7F4DF-94E9-8745-5530-6D52A79021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9993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54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0675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19C782-1306-A8D0-8A2E-61352F1F8AC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158606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489932913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 lang="fr-FR"/>
          </a:p>
        </p:txBody>
      </p:sp>
      <p:sp>
        <p:nvSpPr>
          <p:cNvPr id="2000269376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280347836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314978013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395293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52173383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658219895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76971474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00251328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6049493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342022689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979235830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624762397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97752189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79118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937018921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522160471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65256368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31021179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91747603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02794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2069003799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79659413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013757458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645559696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963445474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366237599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510809024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49305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349144395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296394964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125578815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3163050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712357313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44645270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975125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278820156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80081101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378726101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350815262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2450901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470713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750828015" name="Espace réservé pour une image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 lang="fr-FR"/>
          </a:p>
        </p:txBody>
      </p:sp>
      <p:sp>
        <p:nvSpPr>
          <p:cNvPr id="283435083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128768908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066269075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78232370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86189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288619191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2069560856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10542160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4189666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51424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872249346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71689996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494209366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36684613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accent1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6676505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466989854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938765965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069116242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9134534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805331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9" y="5037976"/>
            <a:ext cx="9144000" cy="105522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fr-FR">
                <a:solidFill>
                  <a:schemeClr val="tx1">
                    <a:lumMod val="65000"/>
                    <a:lumOff val="35000"/>
                  </a:schemeClr>
                </a:solidFill>
              </a:rPr>
              <a:t>Soutenance</a:t>
            </a:r>
            <a:endParaRPr lang="fr-FR"/>
          </a:p>
        </p:txBody>
      </p:sp>
      <p:pic>
        <p:nvPicPr>
          <p:cNvPr id="86583792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986211" y="727728"/>
            <a:ext cx="4219574" cy="35909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7956134" name="Titr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10515600" cy="101693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algn="ctr">
              <a:defRPr/>
            </a:pPr>
            <a:r>
              <a:rPr>
                <a:solidFill>
                  <a:schemeClr val="accent5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Détails du projet</a:t>
            </a:r>
            <a:endParaRPr/>
          </a:p>
        </p:txBody>
      </p:sp>
      <p:sp>
        <p:nvSpPr>
          <p:cNvPr id="1544851588" name="Espace réservé du contenu 2"/>
          <p:cNvSpPr>
            <a:spLocks noGrp="1"/>
          </p:cNvSpPr>
          <p:nvPr>
            <p:ph idx="1"/>
          </p:nvPr>
        </p:nvSpPr>
        <p:spPr bwMode="auto">
          <a:xfrm rot="0" flipH="0" flipV="0">
            <a:off x="1887278" y="2348325"/>
            <a:ext cx="8516469" cy="302894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indent="0" algn="ctr">
              <a:buFont typeface="Arial"/>
              <a:buNone/>
              <a:defRPr/>
            </a:pPr>
            <a:r>
              <a:rPr sz="260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Créer une application pour faciliter le choix du lieu de </a:t>
            </a:r>
            <a:endParaRPr sz="2600">
              <a:solidFill>
                <a:schemeClr val="tx1">
                  <a:lumMod val="85000"/>
                  <a:lumOff val="15000"/>
                </a:schemeClr>
              </a:solidFill>
              <a:latin typeface="Caladea"/>
              <a:ea typeface="Caladea"/>
              <a:cs typeface="Caladea"/>
            </a:endParaRPr>
          </a:p>
          <a:p>
            <a:pPr marL="0" indent="0" algn="ctr">
              <a:buFont typeface="Arial"/>
              <a:buNone/>
              <a:defRPr/>
            </a:pPr>
            <a:r>
              <a:rPr sz="260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déjeuner entre collègues au sein de l’entreprise </a:t>
            </a:r>
            <a:endParaRPr sz="4800"/>
          </a:p>
          <a:p>
            <a:pPr marL="0" indent="0">
              <a:buFont typeface="Arial"/>
              <a:buNone/>
              <a:defRPr/>
            </a:pPr>
            <a:endParaRPr sz="4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6359950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>
                <a:solidFill>
                  <a:schemeClr val="accent5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Besoins fonctionnels</a:t>
            </a:r>
            <a:endParaRPr/>
          </a:p>
        </p:txBody>
      </p:sp>
      <p:sp>
        <p:nvSpPr>
          <p:cNvPr id="435443258" name="Espace réservé du contenu 2"/>
          <p:cNvSpPr>
            <a:spLocks noGrp="1"/>
          </p:cNvSpPr>
          <p:nvPr>
            <p:ph idx="1"/>
          </p:nvPr>
        </p:nvSpPr>
        <p:spPr bwMode="auto">
          <a:xfrm rot="0" flipH="0" flipV="0">
            <a:off x="838800" y="1825200"/>
            <a:ext cx="10515600" cy="4701801"/>
          </a:xfrm>
        </p:spPr>
        <p:txBody>
          <a:bodyPr vertOverflow="overflow" horzOverflow="overflow" vert="horz" wrap="square" lIns="91440" tIns="108000" rIns="91440" bIns="108000" numCol="1" spcCol="0" rtlCol="0" fromWordArt="0" anchor="t" anchorCtr="0" forceAA="0" upright="0" compatLnSpc="0">
            <a:noAutofit/>
          </a:bodyPr>
          <a:lstStyle/>
          <a:p>
            <a:pPr marL="734399" lvl="1" indent="-349965">
              <a:buFont typeface="Arial"/>
              <a:buAutoNum type="arabicPeriod"/>
              <a:defRPr/>
            </a:pPr>
            <a:r>
              <a:rPr lang="fr-FR" sz="1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Un espace personnalisé pour chaque collègue</a:t>
            </a:r>
            <a:endParaRPr sz="1600" b="0" i="0" u="none" strike="noStrike" cap="none" spc="0">
              <a:solidFill>
                <a:schemeClr val="accent6">
                  <a:lumMod val="75000"/>
                </a:schemeClr>
              </a:solidFill>
              <a:latin typeface="Caladea"/>
              <a:cs typeface="Caladea"/>
            </a:endParaRPr>
          </a:p>
          <a:p>
            <a:pPr marL="734399" lvl="1" indent="-349965">
              <a:buFont typeface="Arial"/>
              <a:buAutoNum type="arabicPeriod"/>
              <a:defRPr/>
            </a:pPr>
            <a:endParaRPr sz="1600" b="0" i="0" u="none" strike="noStrike" cap="none" spc="0">
              <a:solidFill>
                <a:schemeClr val="accent6">
                  <a:lumMod val="75000"/>
                </a:schemeClr>
              </a:solidFill>
              <a:latin typeface="Caladea"/>
              <a:cs typeface="Caladea"/>
            </a:endParaRPr>
          </a:p>
          <a:p>
            <a:pPr marL="734399" lvl="1" indent="-349965">
              <a:buFont typeface="Arial"/>
              <a:buAutoNum type="arabicPeriod"/>
              <a:defRPr/>
            </a:pPr>
            <a:r>
              <a:rPr lang="fr-FR" sz="1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3 vues principales accessibles via 3 boutons situés en bas de l’écran : </a:t>
            </a:r>
            <a:endParaRPr sz="16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34399" lvl="1" indent="0">
              <a:buFont typeface="Arial"/>
              <a:buNone/>
              <a:defRPr/>
            </a:pPr>
            <a:endParaRPr sz="14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134450" lvl="3">
              <a:buFont typeface="Arial"/>
              <a:buChar char="–"/>
              <a:defRPr/>
            </a:pPr>
            <a:r>
              <a:rPr lang="fr-FR" sz="14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Vue carte (vue par défaut après connexion)</a:t>
            </a:r>
            <a:r>
              <a:rPr sz="1400" i="0">
                <a:solidFill>
                  <a:schemeClr val="accent1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 avec :</a:t>
            </a:r>
            <a:endParaRPr sz="1600" i="1"/>
          </a:p>
          <a:p>
            <a:pPr marL="734399" lvl="2" indent="0">
              <a:buFont typeface="Arial"/>
              <a:buNone/>
              <a:defRPr/>
            </a:pPr>
            <a:endParaRPr sz="1600" b="0" i="1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734399" lvl="2" indent="0">
              <a:buFont typeface="Arial"/>
              <a:buNone/>
              <a:defRPr/>
            </a:pPr>
            <a:r>
              <a:rPr lang="fr-FR" sz="1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Caladea"/>
                <a:ea typeface="Caladea"/>
                <a:cs typeface="Caladea"/>
              </a:rPr>
              <a:t>	</a:t>
            </a:r>
            <a:r>
              <a:rPr lang="fr-FR" sz="14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Caladea"/>
                <a:ea typeface="Caladea"/>
                <a:cs typeface="Caladea"/>
              </a:rPr>
              <a:t>Restaurants, Utilisateur</a:t>
            </a:r>
            <a:r>
              <a:rPr lang="fr-FR" sz="14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Caladea"/>
                <a:ea typeface="Caladea"/>
                <a:cs typeface="Caladea"/>
              </a:rPr>
              <a:t>, marqueur si restaurant sélectionné, accès détails restaurant si sélectionné</a:t>
            </a:r>
            <a:endParaRPr sz="1400" i="1">
              <a:latin typeface="Caladea"/>
              <a:cs typeface="Caladea"/>
            </a:endParaRPr>
          </a:p>
          <a:p>
            <a:pPr marL="734399" lvl="3" indent="0">
              <a:buFont typeface="Arial"/>
              <a:buNone/>
              <a:defRPr/>
            </a:pPr>
            <a:endParaRPr sz="1400">
              <a:solidFill>
                <a:schemeClr val="bg2">
                  <a:lumMod val="25000"/>
                </a:schemeClr>
              </a:solidFill>
            </a:endParaRPr>
          </a:p>
          <a:p>
            <a:pPr marL="1134450" lvl="3">
              <a:buFont typeface="Arial"/>
              <a:buChar char="–"/>
              <a:defRPr/>
            </a:pPr>
            <a:r>
              <a:rPr lang="fr-FR" sz="14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Vue  </a:t>
            </a:r>
            <a:r>
              <a:rPr lang="fr-FR" sz="14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liste</a:t>
            </a:r>
            <a:endParaRPr sz="1400" b="0" i="0" u="none" strike="noStrike" cap="none" spc="0">
              <a:solidFill>
                <a:schemeClr val="tx1"/>
              </a:solidFill>
              <a:latin typeface="Caladea"/>
              <a:cs typeface="Caladea"/>
            </a:endParaRPr>
          </a:p>
          <a:p>
            <a:pPr marL="734399" lvl="2" indent="0">
              <a:buFont typeface="Arial"/>
              <a:buNone/>
              <a:defRPr/>
            </a:pPr>
            <a:endParaRPr sz="1400">
              <a:latin typeface="Caladea"/>
              <a:cs typeface="Caladea"/>
            </a:endParaRPr>
          </a:p>
          <a:p>
            <a:pPr marL="734399" lvl="2" indent="0">
              <a:buFont typeface="Arial"/>
              <a:buNone/>
              <a:defRPr/>
            </a:pPr>
            <a:r>
              <a:rPr sz="1400" i="1">
                <a:solidFill>
                  <a:schemeClr val="tx1">
                    <a:lumMod val="75000"/>
                    <a:lumOff val="25000"/>
                  </a:schemeClr>
                </a:solidFill>
                <a:latin typeface="Caladea"/>
                <a:ea typeface="Caladea"/>
                <a:cs typeface="Caladea"/>
              </a:rPr>
              <a:t>	Nom, Adresse, Distance, Image, Collègues, Horaires, Rating( 0 à 3 étoiles)</a:t>
            </a:r>
            <a:endParaRPr sz="1400">
              <a:latin typeface="Caladea"/>
              <a:cs typeface="Caladea"/>
            </a:endParaRPr>
          </a:p>
          <a:p>
            <a:pPr marL="734399" lvl="3">
              <a:buFont typeface="Arial"/>
              <a:buChar char="–"/>
              <a:defRPr/>
            </a:pPr>
            <a:endParaRPr sz="1400">
              <a:latin typeface="Caladea"/>
              <a:cs typeface="Caladea"/>
            </a:endParaRPr>
          </a:p>
          <a:p>
            <a:pPr marL="1134450" lvl="3">
              <a:buFont typeface="Arial"/>
              <a:buChar char="–"/>
              <a:defRPr/>
            </a:pPr>
            <a:r>
              <a:rPr lang="fr-FR" sz="14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Vue des collègues</a:t>
            </a:r>
            <a:r>
              <a:rPr lang="fr-FR" sz="14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 </a:t>
            </a:r>
            <a:endParaRPr sz="1400">
              <a:latin typeface="Caladea"/>
              <a:cs typeface="Caladea"/>
            </a:endParaRPr>
          </a:p>
          <a:p>
            <a:pPr marL="734399" lvl="2" indent="0">
              <a:buFont typeface="Arial"/>
              <a:buNone/>
              <a:defRPr/>
            </a:pPr>
            <a:endParaRPr sz="1400" b="0" i="0" u="none" strike="noStrike" cap="none" spc="0">
              <a:solidFill>
                <a:schemeClr val="tx1"/>
              </a:solidFill>
              <a:latin typeface="Caladea"/>
              <a:cs typeface="Caladea"/>
            </a:endParaRPr>
          </a:p>
          <a:p>
            <a:pPr marL="734399" lvl="2" indent="0">
              <a:buFont typeface="Arial"/>
              <a:buNone/>
              <a:defRPr/>
            </a:pPr>
            <a:r>
              <a:rPr lang="fr-FR" sz="1400" b="0" i="1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	</a:t>
            </a:r>
            <a:r>
              <a:rPr lang="fr-FR" sz="14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Caladea"/>
                <a:ea typeface="Caladea"/>
                <a:cs typeface="Caladea"/>
              </a:rPr>
              <a:t>Prénom, </a:t>
            </a:r>
            <a:r>
              <a:rPr lang="fr-FR" sz="14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Caladea"/>
                <a:ea typeface="Caladea"/>
                <a:cs typeface="Caladea"/>
              </a:rPr>
              <a:t>Restaurant choisit</a:t>
            </a:r>
            <a:r>
              <a:rPr sz="1400" i="1">
                <a:solidFill>
                  <a:schemeClr val="tx1">
                    <a:lumMod val="75000"/>
                    <a:lumOff val="25000"/>
                  </a:schemeClr>
                </a:solidFill>
                <a:latin typeface="Caladea"/>
                <a:ea typeface="Caladea"/>
                <a:cs typeface="Caladea"/>
              </a:rPr>
              <a:t>, </a:t>
            </a:r>
            <a:r>
              <a:rPr lang="fr-FR" sz="14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Caladea"/>
                <a:ea typeface="Caladea"/>
                <a:cs typeface="Caladea"/>
              </a:rPr>
              <a:t>Accéder au détail du restaurant choisit</a:t>
            </a:r>
            <a:r>
              <a:rPr sz="1400" i="1">
                <a:solidFill>
                  <a:schemeClr val="tx1">
                    <a:lumMod val="75000"/>
                    <a:lumOff val="25000"/>
                  </a:schemeClr>
                </a:solidFill>
                <a:latin typeface="Caladea"/>
                <a:ea typeface="Caladea"/>
                <a:cs typeface="Caladea"/>
              </a:rPr>
              <a:t> si clic sur un collègue</a:t>
            </a:r>
            <a:endParaRPr sz="1400">
              <a:latin typeface="Caladea"/>
              <a:cs typeface="Calad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134710" name="Espace réservé du contenu 2"/>
          <p:cNvSpPr>
            <a:spLocks noGrp="1"/>
          </p:cNvSpPr>
          <p:nvPr>
            <p:ph idx="1"/>
          </p:nvPr>
        </p:nvSpPr>
        <p:spPr bwMode="auto">
          <a:xfrm rot="0" flipH="0" flipV="0">
            <a:off x="654632" y="345599"/>
            <a:ext cx="10699166" cy="611645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Autofit/>
          </a:bodyPr>
          <a:lstStyle/>
          <a:p>
            <a:pPr marL="250835" marR="0" indent="-250835" algn="l" defTabSz="914400" rtl="0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AutoNum type="arabicPeriod" startAt="3"/>
              <a:defRPr/>
            </a:pPr>
            <a:r>
              <a:rPr lang="fr-FR" sz="1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Vue supplémentaire détaillée d’un restaurant :</a:t>
            </a:r>
            <a:endParaRPr lang="fr-FR" sz="1600" b="0" i="0" u="none" strike="noStrike" cap="none" spc="0">
              <a:solidFill>
                <a:schemeClr val="accent6">
                  <a:lumMod val="75000"/>
                </a:schemeClr>
              </a:solidFill>
              <a:latin typeface="Caladea"/>
              <a:ea typeface="Caladea"/>
              <a:cs typeface="Caladea"/>
            </a:endParaRPr>
          </a:p>
          <a:p>
            <a:pPr marL="250835" marR="0" indent="-250835" algn="l" defTabSz="914400" rtl="0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AutoNum type="arabicPeriod" startAt="3"/>
              <a:defRPr/>
            </a:pPr>
            <a:endParaRPr sz="1400" b="0" i="0" u="none" strike="noStrike" cap="none" spc="0">
              <a:solidFill>
                <a:schemeClr val="accent6">
                  <a:lumMod val="75000"/>
                </a:schemeClr>
              </a:solidFill>
              <a:latin typeface="Caladea"/>
              <a:ea typeface="Caladea"/>
              <a:cs typeface="Caladea"/>
            </a:endParaRPr>
          </a:p>
          <a:p>
            <a:pPr marL="0" marR="0" indent="0" algn="l" defTabSz="914400" rtl="0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None/>
              <a:defRPr/>
            </a:pPr>
            <a:r>
              <a:rPr lang="fr-FR" sz="14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   Choisir le restaurant, </a:t>
            </a:r>
            <a:r>
              <a:rPr lang="fr-FR" sz="14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 </a:t>
            </a:r>
            <a:r>
              <a:rPr lang="fr-FR" sz="14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Appeler </a:t>
            </a:r>
            <a:r>
              <a:rPr lang="fr-FR" sz="14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le restaurant, </a:t>
            </a:r>
            <a:r>
              <a:rPr lang="fr-FR" sz="14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 Liker le restaurant, </a:t>
            </a:r>
            <a:r>
              <a:rPr lang="fr-FR" sz="14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Lien vers le site web du restaurant</a:t>
            </a:r>
            <a:endParaRPr lang="fr-FR" sz="1600" b="0" i="0" u="none" strike="noStrike" cap="none" spc="0">
              <a:solidFill>
                <a:schemeClr val="accent6">
                  <a:lumMod val="75000"/>
                </a:schemeClr>
              </a:solidFill>
              <a:latin typeface="Caladea"/>
              <a:ea typeface="Caladea"/>
              <a:cs typeface="Caladea"/>
            </a:endParaRPr>
          </a:p>
          <a:p>
            <a:pPr marL="0" marR="0" indent="0" algn="l" defTabSz="914400" rtl="0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None/>
              <a:defRPr/>
            </a:pPr>
            <a:r>
              <a:rPr lang="fr-FR" sz="14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   Liste des collègues déclarés intéressés à aller déjeuner dans ce restaurant (vide si aucun)</a:t>
            </a:r>
            <a:endParaRPr i="1">
              <a:solidFill>
                <a:schemeClr val="bg2">
                  <a:lumMod val="25000"/>
                </a:schemeClr>
              </a:solidFill>
            </a:endParaRPr>
          </a:p>
          <a:p>
            <a:pPr marL="0" marR="0" indent="0" algn="l" defTabSz="914400" rtl="0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None/>
              <a:defRPr/>
            </a:pPr>
            <a:endParaRPr sz="1400" i="1">
              <a:solidFill>
                <a:schemeClr val="bg2">
                  <a:lumMod val="25000"/>
                </a:schemeClr>
              </a:solidFill>
              <a:latin typeface="Caladea"/>
              <a:cs typeface="Caladea"/>
            </a:endParaRPr>
          </a:p>
          <a:p>
            <a:pPr marL="261850" marR="0" indent="-261850" algn="l" defTabSz="914400" rtl="0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AutoNum type="arabicPeriod" startAt="4"/>
              <a:defRPr/>
            </a:pPr>
            <a:r>
              <a:rPr lang="fr-FR" sz="1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Une zone de recherche en haut des trois premières vue</a:t>
            </a:r>
            <a:r>
              <a:rPr lang="fr-FR" sz="1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s </a:t>
            </a:r>
            <a:endParaRPr sz="1600" i="1" strike="noStrike" cap="none" spc="0">
              <a:solidFill>
                <a:schemeClr val="bg2">
                  <a:lumMod val="25000"/>
                </a:schemeClr>
              </a:solidFill>
              <a:latin typeface="Caladea"/>
              <a:ea typeface="Caladea"/>
              <a:cs typeface="Caladea"/>
            </a:endParaRPr>
          </a:p>
          <a:p>
            <a:pPr marL="261850" marR="0" indent="-261850" algn="l" defTabSz="914400" rtl="0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AutoNum type="arabicPeriod" startAt="4"/>
              <a:defRPr/>
            </a:pPr>
            <a:endParaRPr sz="1400" i="1" strike="noStrike" cap="none" spc="0">
              <a:solidFill>
                <a:schemeClr val="bg2">
                  <a:lumMod val="25000"/>
                </a:schemeClr>
              </a:solidFill>
              <a:latin typeface="Caladea"/>
              <a:cs typeface="Caladea"/>
            </a:endParaRPr>
          </a:p>
          <a:p>
            <a:pPr marL="261850" marR="0" indent="-261850" algn="l" defTabSz="914400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AutoNum type="arabicPeriod" startAt="4"/>
              <a:defRPr/>
            </a:pPr>
            <a:r>
              <a:rPr sz="1600" strike="noStrike" cap="none" spc="0">
                <a:solidFill>
                  <a:schemeClr val="accent6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Un menu accessible via un bouton situé en haut à gauche de l’écran</a:t>
            </a:r>
            <a:endParaRPr sz="1600" strike="noStrike" cap="none" spc="0">
              <a:solidFill>
                <a:schemeClr val="accent6">
                  <a:lumMod val="75000"/>
                </a:schemeClr>
              </a:solidFill>
              <a:latin typeface="Caladea"/>
              <a:ea typeface="Caladea"/>
              <a:cs typeface="Caladea"/>
            </a:endParaRPr>
          </a:p>
          <a:p>
            <a:pPr marL="261850" marR="0" indent="-261850" algn="l" defTabSz="914400" rtl="0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AutoNum type="arabicPeriod" startAt="4"/>
              <a:defRPr/>
            </a:pPr>
            <a:endParaRPr sz="1400" strike="noStrike" cap="none" spc="0"/>
          </a:p>
          <a:p>
            <a:pPr lvl="1" algn="l" defTabSz="914400" rtl="0">
              <a:lnSpc>
                <a:spcPct val="70000"/>
              </a:lnSpc>
              <a:spcBef>
                <a:spcPts val="999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–"/>
              <a:defRPr/>
            </a:pPr>
            <a:r>
              <a:rPr lang="fr-FR" sz="14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Photo de profil</a:t>
            </a:r>
            <a:endParaRPr sz="1400" i="1" strike="noStrike" cap="none" spc="0">
              <a:solidFill>
                <a:schemeClr val="bg2">
                  <a:lumMod val="25000"/>
                </a:schemeClr>
              </a:solidFill>
              <a:latin typeface="Caladea"/>
              <a:cs typeface="Caladea"/>
            </a:endParaRPr>
          </a:p>
          <a:p>
            <a:pPr lvl="1" algn="l" defTabSz="914400" rtl="0">
              <a:lnSpc>
                <a:spcPct val="70000"/>
              </a:lnSpc>
              <a:spcBef>
                <a:spcPts val="999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–"/>
              <a:defRPr/>
            </a:pPr>
            <a:r>
              <a:rPr lang="fr-FR" sz="14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Prénom et Nom de l’utilisateur</a:t>
            </a:r>
            <a:endParaRPr sz="1400" i="1" strike="noStrike" cap="none" spc="0">
              <a:solidFill>
                <a:schemeClr val="bg2">
                  <a:lumMod val="25000"/>
                </a:schemeClr>
              </a:solidFill>
              <a:latin typeface="Caladea"/>
              <a:cs typeface="Caladea"/>
            </a:endParaRPr>
          </a:p>
          <a:p>
            <a:pPr lvl="1" algn="l" defTabSz="914400" rtl="0">
              <a:lnSpc>
                <a:spcPct val="70000"/>
              </a:lnSpc>
              <a:spcBef>
                <a:spcPts val="999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–"/>
              <a:defRPr/>
            </a:pPr>
            <a:r>
              <a:rPr lang="fr-FR" sz="14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Un bouton pour accéder à l’écran de paramètres</a:t>
            </a:r>
            <a:endParaRPr sz="1400" b="0" i="1" u="none" strike="noStrike" cap="none" spc="0">
              <a:solidFill>
                <a:schemeClr val="bg2">
                  <a:lumMod val="25000"/>
                </a:schemeClr>
              </a:solidFill>
              <a:latin typeface="Caladea"/>
              <a:cs typeface="Caladea"/>
            </a:endParaRPr>
          </a:p>
          <a:p>
            <a:pPr lvl="1" algn="l" defTabSz="914400" rtl="0">
              <a:lnSpc>
                <a:spcPct val="70000"/>
              </a:lnSpc>
              <a:spcBef>
                <a:spcPts val="999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–"/>
              <a:defRPr/>
            </a:pPr>
            <a:r>
              <a:rPr lang="fr-FR" sz="14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Un bouton de déconnexion</a:t>
            </a:r>
            <a:r>
              <a:rPr lang="fr-FR" sz="1000" b="0" i="0" u="none" strike="noStrike" cap="none" spc="0">
                <a:solidFill>
                  <a:schemeClr val="bg2">
                    <a:lumMod val="25000"/>
                  </a:schemeClr>
                </a:solidFill>
                <a:latin typeface="Arial"/>
                <a:ea typeface="Arial"/>
                <a:cs typeface="Arial"/>
              </a:rPr>
              <a:t>	</a:t>
            </a:r>
            <a:endParaRPr lang="fr-FR" sz="1000" b="0" i="0" u="none" strike="noStrike" cap="none" spc="0">
              <a:solidFill>
                <a:schemeClr val="bg2">
                  <a:lumMod val="25000"/>
                </a:schemeClr>
              </a:solidFill>
              <a:latin typeface="Arial"/>
              <a:ea typeface="Arial"/>
              <a:cs typeface="Arial"/>
            </a:endParaRPr>
          </a:p>
          <a:p>
            <a:pPr lvl="1" algn="l" defTabSz="914400" rtl="0">
              <a:lnSpc>
                <a:spcPct val="70000"/>
              </a:lnSpc>
              <a:spcBef>
                <a:spcPts val="998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–"/>
              <a:defRPr/>
            </a:pPr>
            <a:endParaRPr sz="1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95764" marR="0" indent="-195764" algn="l" defTabSz="914400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AutoNum type="arabicPeriod" startAt="4"/>
              <a:defRPr/>
            </a:pPr>
            <a:r>
              <a:rPr sz="1600" strike="noStrike" cap="none" spc="0">
                <a:solidFill>
                  <a:schemeClr val="accent6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 Envoie d’un message de notification avec son choix de restaurant à 12 h</a:t>
            </a:r>
            <a:endParaRPr sz="1600" strike="noStrike" cap="none" spc="0">
              <a:solidFill>
                <a:schemeClr val="accent6">
                  <a:lumMod val="75000"/>
                </a:schemeClr>
              </a:solidFill>
              <a:latin typeface="Caladea"/>
              <a:ea typeface="Caladea"/>
              <a:cs typeface="Caladea"/>
            </a:endParaRPr>
          </a:p>
          <a:p>
            <a:pPr marL="195764" marR="0" indent="-195764" algn="l" defTabSz="914400" rtl="0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AutoNum type="arabicPeriod" startAt="4"/>
              <a:defRPr/>
            </a:pPr>
            <a:endParaRPr sz="1400" strike="noStrike" cap="none" spc="0">
              <a:solidFill>
                <a:schemeClr val="accent6">
                  <a:lumMod val="75000"/>
                </a:schemeClr>
              </a:solidFill>
              <a:latin typeface="Caladea"/>
              <a:cs typeface="Caladea"/>
            </a:endParaRPr>
          </a:p>
          <a:p>
            <a:pPr marL="195764" marR="0" indent="-195764" algn="l" defTabSz="914400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AutoNum type="arabicPeriod" startAt="4"/>
              <a:defRPr/>
            </a:pPr>
            <a:r>
              <a:rPr sz="1600" strike="noStrike" cap="none" spc="0">
                <a:solidFill>
                  <a:schemeClr val="accent6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 Une fonctionnalité de traduction Français  / Anglais (bouton dans onglet paramètre)</a:t>
            </a:r>
            <a:endParaRPr sz="1600" strike="noStrike" cap="none" spc="0">
              <a:solidFill>
                <a:schemeClr val="accent6">
                  <a:lumMod val="75000"/>
                </a:schemeClr>
              </a:solidFill>
              <a:latin typeface="Caladea"/>
              <a:ea typeface="Caladea"/>
              <a:cs typeface="Caladea"/>
            </a:endParaRPr>
          </a:p>
          <a:p>
            <a:pPr marL="195764" marR="0" indent="-195764" algn="l" defTabSz="914400" rtl="0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AutoNum type="arabicPeriod" startAt="4"/>
              <a:defRPr/>
            </a:pPr>
            <a:endParaRPr sz="1400" strike="noStrike" cap="none" spc="0">
              <a:solidFill>
                <a:schemeClr val="accent6">
                  <a:lumMod val="75000"/>
                </a:schemeClr>
              </a:solidFill>
              <a:latin typeface="Caladea"/>
              <a:cs typeface="Caladea"/>
            </a:endParaRPr>
          </a:p>
          <a:p>
            <a:pPr marL="195764" marR="0" indent="-195764" algn="l" defTabSz="914400" rtl="0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AutoNum type="arabicPeriod" startAt="4"/>
              <a:defRPr/>
            </a:pPr>
            <a:r>
              <a:rPr sz="1600" strike="noStrike" cap="none" spc="0">
                <a:solidFill>
                  <a:schemeClr val="accent6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 Intégrer un CHAT pour discuter entre collègues</a:t>
            </a:r>
            <a:endParaRPr strike="noStrike" cap="none" spc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9190186" name="Espace réservé du contenu 2"/>
          <p:cNvSpPr>
            <a:spLocks noGrp="1"/>
          </p:cNvSpPr>
          <p:nvPr>
            <p:ph idx="1"/>
          </p:nvPr>
        </p:nvSpPr>
        <p:spPr bwMode="auto">
          <a:xfrm rot="0" flipH="0" flipV="0">
            <a:off x="838800" y="1411200"/>
            <a:ext cx="10515600" cy="4766889"/>
          </a:xfrm>
        </p:spPr>
        <p:txBody>
          <a:bodyPr vertOverflow="overflow" horzOverflow="overflow" vert="horz" wrap="square" lIns="91440" tIns="108000" rIns="91440" bIns="108000" numCol="1" spcCol="0" rtlCol="0" fromWordArt="0" anchor="t" anchorCtr="0" forceAA="0" upright="0" compatLnSpc="0">
            <a:noAutofit/>
          </a:bodyPr>
          <a:lstStyle/>
          <a:p>
            <a:pPr>
              <a:buFont typeface="Wingdings"/>
              <a:buChar char="Ø"/>
              <a:defRPr/>
            </a:pPr>
            <a:r>
              <a:rPr sz="1600">
                <a:solidFill>
                  <a:schemeClr val="accent6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Langage Java</a:t>
            </a:r>
            <a:endParaRPr sz="1600">
              <a:solidFill>
                <a:schemeClr val="accent6">
                  <a:lumMod val="75000"/>
                </a:schemeClr>
              </a:solidFill>
              <a:latin typeface="Caladea"/>
              <a:cs typeface="Caladea"/>
            </a:endParaRPr>
          </a:p>
          <a:p>
            <a:pPr marL="457200" lvl="1" indent="0">
              <a:buFont typeface="Wingdings"/>
              <a:buNone/>
              <a:defRPr/>
            </a:pPr>
            <a:r>
              <a:rPr sz="1400" i="1">
                <a:solidFill>
                  <a:schemeClr val="bg2">
                    <a:lumMod val="25000"/>
                  </a:schemeClr>
                </a:solidFill>
                <a:latin typeface="Caladea"/>
                <a:cs typeface="Caladea"/>
              </a:rPr>
              <a:t>Langage d’origine de développement  Android</a:t>
            </a:r>
            <a:r>
              <a:rPr sz="1400" i="1">
                <a:solidFill>
                  <a:schemeClr val="bg2">
                    <a:lumMod val="25000"/>
                  </a:schemeClr>
                </a:solidFill>
                <a:latin typeface="Caladea"/>
                <a:cs typeface="Caladea"/>
              </a:rPr>
              <a:t>, le plus maitrisé au sein de l’entreprise</a:t>
            </a:r>
            <a:r>
              <a:rPr sz="1400" i="1">
                <a:solidFill>
                  <a:schemeClr val="bg2">
                    <a:lumMod val="25000"/>
                  </a:schemeClr>
                </a:solidFill>
                <a:latin typeface="Caladea"/>
                <a:cs typeface="Caladea"/>
              </a:rPr>
              <a:t>, facilitera la maintenance et l’évolution de l’application.</a:t>
            </a:r>
            <a:endParaRPr sz="1400">
              <a:solidFill>
                <a:schemeClr val="bg2">
                  <a:lumMod val="25000"/>
                </a:schemeClr>
              </a:solidFill>
              <a:latin typeface="Caladea"/>
              <a:cs typeface="Caladea"/>
            </a:endParaRPr>
          </a:p>
          <a:p>
            <a:pPr>
              <a:buFont typeface="Wingdings"/>
              <a:buChar char="Ø"/>
              <a:defRPr/>
            </a:pPr>
            <a:r>
              <a:rPr sz="1600">
                <a:solidFill>
                  <a:schemeClr val="accent6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Pattern MVVM</a:t>
            </a:r>
            <a:endParaRPr sz="1600">
              <a:latin typeface="Caladea"/>
              <a:cs typeface="Caladea"/>
            </a:endParaRPr>
          </a:p>
          <a:p>
            <a:pPr marL="457200" lvl="1" indent="0">
              <a:buFont typeface="Arial"/>
              <a:buNone/>
              <a:defRPr/>
            </a:pPr>
            <a:r>
              <a:rPr sz="1400" i="1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Nous permet une gestion plus facile de nos différentes sources de données avec une séparation des couches bien définie</a:t>
            </a:r>
            <a:endParaRPr sz="1400" i="1">
              <a:solidFill>
                <a:schemeClr val="bg2">
                  <a:lumMod val="25000"/>
                </a:schemeClr>
              </a:solidFill>
              <a:latin typeface="Caladea"/>
              <a:ea typeface="Caladea"/>
              <a:cs typeface="Caladea"/>
            </a:endParaRPr>
          </a:p>
          <a:p>
            <a:pPr marL="457200" lvl="1" indent="0">
              <a:buFont typeface="Arial"/>
              <a:buNone/>
              <a:defRPr/>
            </a:pPr>
            <a:r>
              <a:rPr sz="1400" i="1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Un des standards actuel de développement (très bien maitrisé au sein de l’entreprise</a:t>
            </a:r>
            <a:r>
              <a:rPr sz="1400" i="1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)</a:t>
            </a:r>
            <a:endParaRPr sz="1400" i="1">
              <a:solidFill>
                <a:schemeClr val="bg2">
                  <a:lumMod val="25000"/>
                </a:schemeClr>
              </a:solidFill>
              <a:latin typeface="Caladea"/>
              <a:ea typeface="Caladea"/>
              <a:cs typeface="Caladea"/>
            </a:endParaRPr>
          </a:p>
          <a:p>
            <a:pPr marL="457200" lvl="1" indent="0">
              <a:buFont typeface="Arial"/>
              <a:buNone/>
              <a:defRPr/>
            </a:pPr>
            <a:r>
              <a:rPr sz="1400" i="1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Facilite</a:t>
            </a:r>
            <a:r>
              <a:rPr sz="1400" i="1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 la maintenance et les tests</a:t>
            </a:r>
            <a:endParaRPr sz="1400"/>
          </a:p>
          <a:p>
            <a:pPr>
              <a:buFont typeface="Wingdings"/>
              <a:buChar char="Ø"/>
              <a:defRPr/>
            </a:pPr>
            <a:r>
              <a:rPr lang="fr-FR" sz="1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Back-end Firebase,</a:t>
            </a:r>
            <a:r>
              <a:rPr lang="fr-FR" sz="1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 API de cartographie et de données Google maps et Google places</a:t>
            </a:r>
            <a:endParaRPr lang="fr-FR" sz="1600" b="0" i="0" u="none" strike="noStrike" cap="none" spc="0">
              <a:solidFill>
                <a:schemeClr val="accent6">
                  <a:lumMod val="75000"/>
                </a:schemeClr>
              </a:solidFill>
              <a:latin typeface="Caladea"/>
              <a:ea typeface="Caladea"/>
              <a:cs typeface="Caladea"/>
            </a:endParaRPr>
          </a:p>
          <a:p>
            <a:pPr marL="457200" lvl="1" indent="0">
              <a:buFont typeface="Wingdings"/>
              <a:buNone/>
              <a:defRPr/>
            </a:pPr>
            <a:r>
              <a:rPr lang="fr-FR" sz="14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Solution Google clés en main, base de données No SQL (firestore) parfaite pour nos besoins d’authentification, de centralisation et de partage de données.</a:t>
            </a:r>
            <a:endParaRPr sz="1400" b="0" i="1" u="none" strike="noStrike" cap="none" spc="0">
              <a:solidFill>
                <a:schemeClr val="bg2">
                  <a:lumMod val="25000"/>
                </a:schemeClr>
              </a:solidFill>
              <a:latin typeface="Times New Roman"/>
              <a:cs typeface="Times New Roman"/>
            </a:endParaRPr>
          </a:p>
          <a:p>
            <a:pPr marL="457200" lvl="1" indent="0">
              <a:buFont typeface="Wingdings"/>
              <a:buNone/>
              <a:defRPr/>
            </a:pPr>
            <a:r>
              <a:rPr lang="fr-FR" sz="14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Solution Google retenu pour assurer un cohérence et une facturation des services centralisé (cf Back-end)</a:t>
            </a:r>
            <a:endParaRPr lang="fr-FR" sz="1000" b="0" i="1" u="none" strike="noStrike" cap="none" spc="0">
              <a:solidFill>
                <a:schemeClr val="bg2">
                  <a:lumMod val="25000"/>
                </a:schemeClr>
              </a:solidFill>
              <a:latin typeface="Caladea"/>
              <a:ea typeface="Caladea"/>
              <a:cs typeface="Caladea"/>
            </a:endParaRPr>
          </a:p>
          <a:p>
            <a:pPr>
              <a:buFont typeface="Wingdings"/>
              <a:buChar char="Ø"/>
              <a:defRPr/>
            </a:pPr>
            <a:r>
              <a:rPr lang="fr-FR" sz="1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Green code</a:t>
            </a:r>
            <a:endParaRPr sz="1600">
              <a:solidFill>
                <a:schemeClr val="accent6">
                  <a:lumMod val="75000"/>
                </a:schemeClr>
              </a:solidFill>
              <a:latin typeface="Caladea"/>
              <a:cs typeface="Caladea"/>
            </a:endParaRPr>
          </a:p>
          <a:p>
            <a:pPr marL="457200" lvl="1" indent="0">
              <a:buFont typeface="Arial"/>
              <a:buNone/>
              <a:defRPr/>
            </a:pPr>
            <a:r>
              <a:rPr lang="fr-FR" sz="14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Limiter le nombre d’appels API</a:t>
            </a:r>
            <a:r>
              <a:rPr lang="fr-FR" sz="14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 pour </a:t>
            </a:r>
            <a:r>
              <a:rPr lang="fr-FR" sz="14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une consommation de données</a:t>
            </a:r>
            <a:r>
              <a:rPr lang="fr-FR" sz="14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 et de batterie réduite</a:t>
            </a:r>
            <a:r>
              <a:rPr sz="1400" i="1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 et des </a:t>
            </a:r>
            <a:r>
              <a:rPr lang="fr-FR" sz="14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coûts d’utilisation des API maîtrisés</a:t>
            </a:r>
            <a:endParaRPr sz="1400">
              <a:solidFill>
                <a:schemeClr val="bg2">
                  <a:lumMod val="25000"/>
                </a:schemeClr>
              </a:solidFill>
              <a:latin typeface="Caladea"/>
              <a:cs typeface="Caladea"/>
            </a:endParaRPr>
          </a:p>
          <a:p>
            <a:pPr>
              <a:buFont typeface="Wingdings"/>
              <a:buChar char="Ø"/>
              <a:defRPr/>
            </a:pPr>
            <a:r>
              <a:rPr lang="fr-FR" sz="16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Single Activity</a:t>
            </a:r>
            <a:endParaRPr lang="fr-FR" sz="1600" b="0" i="0" u="none" strike="noStrike" cap="none" spc="0">
              <a:solidFill>
                <a:schemeClr val="accent6">
                  <a:lumMod val="75000"/>
                </a:schemeClr>
              </a:solidFill>
              <a:latin typeface="Caladea"/>
              <a:ea typeface="Caladea"/>
              <a:cs typeface="Caladea"/>
            </a:endParaRPr>
          </a:p>
          <a:p>
            <a:pPr marL="457200" lvl="1" indent="0">
              <a:buFont typeface="Wingdings"/>
              <a:buNone/>
              <a:defRPr/>
            </a:pPr>
            <a:r>
              <a:rPr lang="fr-FR" sz="14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Pour suivre les bonnes pratiques Android, combiné avec Jetpack Navigation Component pour gérer les transitions avec les fragments</a:t>
            </a:r>
            <a:endParaRPr sz="1600" b="0" i="0" u="none" strike="noStrike" cap="none" spc="0">
              <a:solidFill>
                <a:schemeClr val="accent6">
                  <a:lumMod val="75000"/>
                </a:schemeClr>
              </a:solidFill>
              <a:latin typeface="Caladea"/>
              <a:cs typeface="Caladea"/>
            </a:endParaRPr>
          </a:p>
        </p:txBody>
      </p:sp>
      <p:sp>
        <p:nvSpPr>
          <p:cNvPr id="457232011" name=""/>
          <p:cNvSpPr txBox="1"/>
          <p:nvPr/>
        </p:nvSpPr>
        <p:spPr bwMode="auto">
          <a:xfrm rot="0" flipH="0" flipV="0">
            <a:off x="824400" y="457199"/>
            <a:ext cx="10530000" cy="710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Autofit/>
          </a:bodyPr>
          <a:p>
            <a:pPr algn="ctr">
              <a:defRPr/>
            </a:pPr>
            <a:r>
              <a:rPr lang="fr-FR" sz="4400" b="1" i="0" u="none" strike="noStrike" cap="none" spc="0">
                <a:solidFill>
                  <a:schemeClr val="accent5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Choix D’architecture</a:t>
            </a:r>
            <a:endParaRPr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58648654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38800" y="5643099"/>
            <a:ext cx="567088" cy="957920"/>
          </a:xfrm>
          <a:prstGeom prst="rect">
            <a:avLst/>
          </a:prstGeom>
        </p:spPr>
      </p:pic>
      <p:pic>
        <p:nvPicPr>
          <p:cNvPr id="538047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028223" y="5643099"/>
            <a:ext cx="1863541" cy="1109807"/>
          </a:xfrm>
          <a:prstGeom prst="rect">
            <a:avLst/>
          </a:prstGeom>
        </p:spPr>
      </p:pic>
      <p:pic>
        <p:nvPicPr>
          <p:cNvPr id="1566587144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2149532" y="5984619"/>
            <a:ext cx="3706496" cy="426767"/>
          </a:xfrm>
          <a:prstGeom prst="rect">
            <a:avLst/>
          </a:prstGeom>
        </p:spPr>
      </p:pic>
      <p:pic>
        <p:nvPicPr>
          <p:cNvPr id="1692386675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8208308" y="5984619"/>
            <a:ext cx="3091911" cy="3635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668748" name="Titre 1"/>
          <p:cNvSpPr>
            <a:spLocks noGrp="1"/>
          </p:cNvSpPr>
          <p:nvPr>
            <p:ph type="title"/>
          </p:nvPr>
        </p:nvSpPr>
        <p:spPr bwMode="auto">
          <a:xfrm flipH="0" flipV="0">
            <a:off x="838197" y="365122"/>
            <a:ext cx="10515600" cy="718110"/>
          </a:xfrm>
        </p:spPr>
        <p:txBody>
          <a:bodyPr/>
          <a:lstStyle/>
          <a:p>
            <a:pPr algn="ctr">
              <a:defRPr/>
            </a:pPr>
            <a:r>
              <a:rPr>
                <a:solidFill>
                  <a:schemeClr val="accent5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Choix de conception</a:t>
            </a:r>
            <a:endParaRPr/>
          </a:p>
        </p:txBody>
      </p:sp>
      <p:sp>
        <p:nvSpPr>
          <p:cNvPr id="41548391" name="Espace réservé du contenu 2"/>
          <p:cNvSpPr>
            <a:spLocks noGrp="1"/>
          </p:cNvSpPr>
          <p:nvPr>
            <p:ph idx="1"/>
          </p:nvPr>
        </p:nvSpPr>
        <p:spPr bwMode="auto">
          <a:xfrm rot="0" flipH="0" flipV="0">
            <a:off x="838800" y="1167278"/>
            <a:ext cx="10515600" cy="5546910"/>
          </a:xfrm>
        </p:spPr>
        <p:txBody>
          <a:bodyPr vertOverflow="overflow" horzOverflow="overflow" vert="horz" wrap="square" lIns="91440" tIns="72000" rIns="91440" bIns="72000" numCol="2" spcCol="0" rtlCol="0" fromWordArt="0" anchor="t" anchorCtr="0" forceAA="0" upright="0" compatLnSpc="0">
            <a:noAutofit/>
          </a:bodyPr>
          <a:lstStyle/>
          <a:p>
            <a:pPr>
              <a:defRPr/>
            </a:pPr>
            <a:r>
              <a:rPr sz="2000">
                <a:solidFill>
                  <a:schemeClr val="accent6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3 entités  dans l’application:</a:t>
            </a:r>
            <a:endParaRPr sz="1600">
              <a:latin typeface="Caladea"/>
              <a:ea typeface="Caladea"/>
              <a:cs typeface="Caladea"/>
            </a:endParaRPr>
          </a:p>
          <a:p>
            <a:pPr lvl="1">
              <a:defRPr/>
            </a:pPr>
            <a:r>
              <a:rPr lang="fr-FR" sz="16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user </a:t>
            </a:r>
            <a:endParaRPr lang="fr-FR" sz="1600" b="0" i="0" u="none" strike="noStrike" cap="none" spc="0">
              <a:solidFill>
                <a:schemeClr val="tx1"/>
              </a:solidFill>
              <a:latin typeface="Caladea"/>
              <a:ea typeface="Caladea"/>
              <a:cs typeface="Caladea"/>
            </a:endParaRPr>
          </a:p>
          <a:p>
            <a:pPr lvl="2">
              <a:defRPr/>
            </a:pPr>
            <a:r>
              <a:rPr sz="1200" b="0" i="0" u="none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String</a:t>
            </a:r>
            <a:r>
              <a:rPr sz="1200" b="0" i="0" u="none">
                <a:solidFill>
                  <a:srgbClr val="BCBEC4"/>
                </a:solidFill>
                <a:latin typeface="Caladea"/>
                <a:ea typeface="Caladea"/>
                <a:cs typeface="Caladea"/>
              </a:rPr>
              <a:t> </a:t>
            </a:r>
            <a:r>
              <a:rPr sz="1200" b="0" i="0" u="none">
                <a:solidFill>
                  <a:srgbClr val="C77DBB"/>
                </a:solidFill>
                <a:latin typeface="Caladea"/>
                <a:ea typeface="Caladea"/>
                <a:cs typeface="Caladea"/>
              </a:rPr>
              <a:t>uid</a:t>
            </a:r>
            <a:endParaRPr sz="1200" b="0" i="0" u="none">
              <a:solidFill>
                <a:srgbClr val="BCBEC4"/>
              </a:solidFill>
              <a:latin typeface="Caladea"/>
              <a:cs typeface="Caladea"/>
            </a:endParaRPr>
          </a:p>
          <a:p>
            <a:pPr lvl="2">
              <a:defRPr/>
            </a:pPr>
            <a:r>
              <a:rPr sz="1200" b="0" i="0" u="none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String </a:t>
            </a:r>
            <a:r>
              <a:rPr sz="1200" b="0" i="0" u="none">
                <a:solidFill>
                  <a:srgbClr val="C77DBB"/>
                </a:solidFill>
                <a:latin typeface="Caladea"/>
                <a:ea typeface="Caladea"/>
                <a:cs typeface="Caladea"/>
              </a:rPr>
              <a:t>username</a:t>
            </a:r>
            <a:endParaRPr sz="1200" b="0" i="0" u="none">
              <a:solidFill>
                <a:srgbClr val="BCBEC4"/>
              </a:solidFill>
              <a:latin typeface="Caladea"/>
              <a:cs typeface="Caladea"/>
            </a:endParaRPr>
          </a:p>
          <a:p>
            <a:pPr lvl="2">
              <a:defRPr/>
            </a:pPr>
            <a:r>
              <a:rPr sz="1200" b="0" i="0" u="none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String</a:t>
            </a:r>
            <a:r>
              <a:rPr sz="1200" b="0" i="0" u="none">
                <a:solidFill>
                  <a:srgbClr val="BCBEC4"/>
                </a:solidFill>
                <a:latin typeface="Caladea"/>
                <a:ea typeface="Caladea"/>
                <a:cs typeface="Caladea"/>
              </a:rPr>
              <a:t> </a:t>
            </a:r>
            <a:r>
              <a:rPr sz="1200" b="0" i="0" u="none">
                <a:solidFill>
                  <a:srgbClr val="C77DBB"/>
                </a:solidFill>
                <a:latin typeface="Caladea"/>
                <a:ea typeface="Caladea"/>
                <a:cs typeface="Caladea"/>
              </a:rPr>
              <a:t>avatarUrl</a:t>
            </a:r>
            <a:endParaRPr sz="1200" b="0" i="0" u="none">
              <a:solidFill>
                <a:srgbClr val="BCBEC4"/>
              </a:solidFill>
              <a:latin typeface="Caladea"/>
              <a:cs typeface="Caladea"/>
            </a:endParaRPr>
          </a:p>
          <a:p>
            <a:pPr lvl="2">
              <a:defRPr/>
            </a:pPr>
            <a:r>
              <a:rPr sz="1200" b="0" i="0" u="none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String </a:t>
            </a:r>
            <a:r>
              <a:rPr sz="1200" b="0" i="0" u="none">
                <a:solidFill>
                  <a:srgbClr val="C77DBB"/>
                </a:solidFill>
                <a:latin typeface="Caladea"/>
                <a:ea typeface="Caladea"/>
                <a:cs typeface="Caladea"/>
              </a:rPr>
              <a:t>chosenRestaurantId</a:t>
            </a:r>
            <a:endParaRPr sz="1200" b="0" i="0" u="none">
              <a:solidFill>
                <a:srgbClr val="BCBEC4"/>
              </a:solidFill>
              <a:latin typeface="Caladea"/>
              <a:cs typeface="Caladea"/>
            </a:endParaRPr>
          </a:p>
          <a:p>
            <a:pPr lvl="2">
              <a:defRPr/>
            </a:pPr>
            <a:r>
              <a:rPr sz="1200" b="0" i="0" u="none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String </a:t>
            </a:r>
            <a:r>
              <a:rPr sz="1200" b="0" i="0" u="none">
                <a:solidFill>
                  <a:srgbClr val="C77DBB"/>
                </a:solidFill>
                <a:latin typeface="Caladea"/>
                <a:ea typeface="Caladea"/>
                <a:cs typeface="Caladea"/>
              </a:rPr>
              <a:t>chosenRestaurantName</a:t>
            </a:r>
            <a:endParaRPr sz="1200" b="0" i="0" u="none">
              <a:solidFill>
                <a:srgbClr val="BCBEC4"/>
              </a:solidFill>
              <a:latin typeface="Caladea"/>
              <a:cs typeface="Caladea"/>
            </a:endParaRPr>
          </a:p>
          <a:p>
            <a:pPr lvl="2">
              <a:defRPr/>
            </a:pPr>
            <a:r>
              <a:rPr sz="1200" b="0" i="0" u="none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String</a:t>
            </a:r>
            <a:r>
              <a:rPr sz="1200" b="0" i="0" u="none">
                <a:solidFill>
                  <a:srgbClr val="BCBEC4"/>
                </a:solidFill>
                <a:latin typeface="Caladea"/>
                <a:ea typeface="Caladea"/>
                <a:cs typeface="Caladea"/>
              </a:rPr>
              <a:t> </a:t>
            </a:r>
            <a:r>
              <a:rPr sz="1200" b="0" i="0" u="none">
                <a:solidFill>
                  <a:srgbClr val="C77DBB"/>
                </a:solidFill>
                <a:latin typeface="Caladea"/>
                <a:ea typeface="Caladea"/>
                <a:cs typeface="Caladea"/>
              </a:rPr>
              <a:t>chosenRestaurantAddress</a:t>
            </a:r>
            <a:endParaRPr sz="1200" b="0" i="0" u="none">
              <a:solidFill>
                <a:srgbClr val="BCBEC4"/>
              </a:solidFill>
              <a:latin typeface="Caladea"/>
              <a:cs typeface="Caladea"/>
            </a:endParaRPr>
          </a:p>
          <a:p>
            <a:pPr lvl="2">
              <a:defRPr/>
            </a:pPr>
            <a:r>
              <a:rPr sz="1200" b="0" i="0" u="none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List&lt;String&gt;</a:t>
            </a:r>
            <a:r>
              <a:rPr sz="1200" b="0" i="0" u="none">
                <a:solidFill>
                  <a:srgbClr val="BCBEC4"/>
                </a:solidFill>
                <a:latin typeface="Caladea"/>
                <a:ea typeface="Caladea"/>
                <a:cs typeface="Caladea"/>
              </a:rPr>
              <a:t> </a:t>
            </a:r>
            <a:r>
              <a:rPr sz="1200" b="0" i="0" u="none">
                <a:solidFill>
                  <a:srgbClr val="C77DBB"/>
                </a:solidFill>
                <a:latin typeface="Caladea"/>
                <a:ea typeface="Caladea"/>
                <a:cs typeface="Caladea"/>
              </a:rPr>
              <a:t>likedRestaurants</a:t>
            </a:r>
            <a:endParaRPr sz="1200" b="0" i="0" u="none">
              <a:solidFill>
                <a:srgbClr val="C77DBB"/>
              </a:solidFill>
              <a:latin typeface="Caladea"/>
              <a:ea typeface="Caladea"/>
              <a:cs typeface="Caladea"/>
            </a:endParaRPr>
          </a:p>
          <a:p>
            <a:pPr lvl="1">
              <a:defRPr/>
            </a:pPr>
            <a:r>
              <a:rPr lang="fr-FR" sz="16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restaurant</a:t>
            </a:r>
            <a:endParaRPr lang="fr-FR" sz="1600" b="0" i="0" u="none" strike="noStrike" cap="none" spc="0">
              <a:solidFill>
                <a:schemeClr val="tx1"/>
              </a:solidFill>
              <a:latin typeface="Caladea"/>
              <a:ea typeface="Caladea"/>
              <a:cs typeface="Caladea"/>
            </a:endParaRPr>
          </a:p>
          <a:p>
            <a:pPr lvl="2">
              <a:defRPr/>
            </a:pPr>
            <a:r>
              <a:rPr lang="fr-FR" sz="12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String</a:t>
            </a:r>
            <a:r>
              <a:rPr lang="fr-FR" sz="1200" b="0" i="0" u="none" strike="noStrike" cap="none" spc="0">
                <a:solidFill>
                  <a:srgbClr val="BCBEC4"/>
                </a:solidFill>
                <a:latin typeface="Caladea"/>
                <a:ea typeface="Caladea"/>
                <a:cs typeface="Caladea"/>
              </a:rPr>
              <a:t> </a:t>
            </a:r>
            <a:r>
              <a:rPr lang="fr-FR" sz="1200" b="0" i="0" u="none" strike="noStrike" cap="none" spc="0">
                <a:solidFill>
                  <a:srgbClr val="C77DBB"/>
                </a:solidFill>
                <a:latin typeface="Caladea"/>
                <a:ea typeface="Caladea"/>
                <a:cs typeface="Caladea"/>
              </a:rPr>
              <a:t>id</a:t>
            </a:r>
            <a:endParaRPr sz="1200" b="0" i="0" u="none">
              <a:solidFill>
                <a:srgbClr val="BCBEC4"/>
              </a:solidFill>
              <a:latin typeface="Caladea"/>
              <a:cs typeface="Caladea"/>
            </a:endParaRPr>
          </a:p>
          <a:p>
            <a:pPr lvl="2">
              <a:defRPr/>
            </a:pPr>
            <a:r>
              <a:rPr lang="fr-FR" sz="12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String </a:t>
            </a:r>
            <a:r>
              <a:rPr lang="fr-FR" sz="1200" b="0" i="0" u="none" strike="noStrike" cap="none" spc="0">
                <a:solidFill>
                  <a:srgbClr val="C77DBB"/>
                </a:solidFill>
                <a:latin typeface="Caladea"/>
                <a:ea typeface="Caladea"/>
                <a:cs typeface="Caladea"/>
              </a:rPr>
              <a:t>name</a:t>
            </a:r>
            <a:endParaRPr sz="1200" b="0" i="0" u="none">
              <a:solidFill>
                <a:srgbClr val="BCBEC4"/>
              </a:solidFill>
              <a:latin typeface="Caladea"/>
              <a:cs typeface="Caladea"/>
            </a:endParaRPr>
          </a:p>
          <a:p>
            <a:pPr lvl="2">
              <a:defRPr/>
            </a:pPr>
            <a:r>
              <a:rPr lang="fr-FR" sz="12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String</a:t>
            </a:r>
            <a:r>
              <a:rPr lang="fr-FR" sz="1200" b="0" i="0" u="none" strike="noStrike" cap="none" spc="0">
                <a:solidFill>
                  <a:srgbClr val="BCBEC4"/>
                </a:solidFill>
                <a:latin typeface="Caladea"/>
                <a:ea typeface="Caladea"/>
                <a:cs typeface="Caladea"/>
              </a:rPr>
              <a:t> </a:t>
            </a:r>
            <a:r>
              <a:rPr lang="fr-FR" sz="1200" b="0" i="0" u="none" strike="noStrike" cap="none" spc="0">
                <a:solidFill>
                  <a:srgbClr val="C77DBB"/>
                </a:solidFill>
                <a:latin typeface="Caladea"/>
                <a:ea typeface="Caladea"/>
                <a:cs typeface="Caladea"/>
              </a:rPr>
              <a:t>address</a:t>
            </a:r>
            <a:endParaRPr sz="1200" b="0" i="0" u="none">
              <a:solidFill>
                <a:srgbClr val="BCBEC4"/>
              </a:solidFill>
              <a:latin typeface="Caladea"/>
              <a:cs typeface="Caladea"/>
            </a:endParaRPr>
          </a:p>
          <a:p>
            <a:pPr lvl="2">
              <a:defRPr/>
            </a:pPr>
            <a:r>
              <a:rPr lang="fr-FR" sz="12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double </a:t>
            </a:r>
            <a:r>
              <a:rPr lang="fr-FR" sz="1200" b="0" i="0" u="none" strike="noStrike" cap="none" spc="0">
                <a:solidFill>
                  <a:srgbClr val="C77DBB"/>
                </a:solidFill>
                <a:latin typeface="Caladea"/>
                <a:ea typeface="Caladea"/>
                <a:cs typeface="Caladea"/>
              </a:rPr>
              <a:t>rating</a:t>
            </a:r>
            <a:endParaRPr sz="1200" b="0" i="0" u="none">
              <a:solidFill>
                <a:srgbClr val="BCBEC4"/>
              </a:solidFill>
              <a:latin typeface="Caladea"/>
              <a:cs typeface="Caladea"/>
            </a:endParaRPr>
          </a:p>
          <a:p>
            <a:pPr lvl="2">
              <a:defRPr/>
            </a:pPr>
            <a:r>
              <a:rPr lang="fr-FR" sz="12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List&lt;Photometadata&gt; </a:t>
            </a:r>
            <a:r>
              <a:rPr lang="fr-FR" sz="1200" b="0" i="0" u="none" strike="noStrike" cap="none" spc="0">
                <a:solidFill>
                  <a:srgbClr val="C77DBB"/>
                </a:solidFill>
                <a:latin typeface="Caladea"/>
                <a:ea typeface="Caladea"/>
                <a:cs typeface="Caladea"/>
              </a:rPr>
              <a:t>photoMetadata</a:t>
            </a:r>
            <a:endParaRPr sz="1200" b="0" i="0" u="none">
              <a:solidFill>
                <a:srgbClr val="BCBEC4"/>
              </a:solidFill>
              <a:latin typeface="Caladea"/>
              <a:cs typeface="Caladea"/>
            </a:endParaRPr>
          </a:p>
          <a:p>
            <a:pPr lvl="2">
              <a:defRPr/>
            </a:pPr>
            <a:r>
              <a:rPr lang="fr-FR" sz="12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double</a:t>
            </a:r>
            <a:r>
              <a:rPr lang="fr-FR" sz="1200" b="0" i="0" u="none" strike="noStrike" cap="none" spc="0">
                <a:solidFill>
                  <a:srgbClr val="BCBEC4"/>
                </a:solidFill>
                <a:latin typeface="Caladea"/>
                <a:ea typeface="Caladea"/>
                <a:cs typeface="Caladea"/>
              </a:rPr>
              <a:t> </a:t>
            </a:r>
            <a:r>
              <a:rPr lang="fr-FR" sz="1200" b="0" i="0" u="none" strike="noStrike" cap="none" spc="0">
                <a:solidFill>
                  <a:srgbClr val="C77DBB"/>
                </a:solidFill>
                <a:latin typeface="Caladea"/>
                <a:ea typeface="Caladea"/>
                <a:cs typeface="Caladea"/>
              </a:rPr>
              <a:t>latitude</a:t>
            </a:r>
            <a:endParaRPr sz="1200" b="0" i="0" u="none">
              <a:solidFill>
                <a:srgbClr val="BCBEC4"/>
              </a:solidFill>
              <a:latin typeface="Caladea"/>
              <a:cs typeface="Caladea"/>
            </a:endParaRPr>
          </a:p>
          <a:p>
            <a:pPr lvl="2">
              <a:defRPr/>
            </a:pPr>
            <a:r>
              <a:rPr lang="fr-FR" sz="12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double</a:t>
            </a:r>
            <a:r>
              <a:rPr lang="fr-FR" sz="1200" b="0" i="0" u="none" strike="noStrike" cap="none" spc="0">
                <a:solidFill>
                  <a:srgbClr val="BCBEC4"/>
                </a:solidFill>
                <a:latin typeface="Caladea"/>
                <a:ea typeface="Caladea"/>
                <a:cs typeface="Caladea"/>
              </a:rPr>
              <a:t> </a:t>
            </a:r>
            <a:r>
              <a:rPr lang="fr-FR" sz="1200" b="0" i="0" u="none" strike="noStrike" cap="none" spc="0">
                <a:solidFill>
                  <a:srgbClr val="C77DBB"/>
                </a:solidFill>
                <a:latin typeface="Caladea"/>
                <a:ea typeface="Caladea"/>
                <a:cs typeface="Caladea"/>
              </a:rPr>
              <a:t>longitude</a:t>
            </a:r>
            <a:endParaRPr sz="1600" b="0" i="0" u="none">
              <a:solidFill>
                <a:srgbClr val="C77DBB"/>
              </a:solidFill>
              <a:latin typeface="Caladea"/>
              <a:ea typeface="Caladea"/>
              <a:cs typeface="Caladea"/>
            </a:endParaRPr>
          </a:p>
          <a:p>
            <a:pPr lvl="2">
              <a:defRPr/>
            </a:pPr>
            <a:r>
              <a:rPr lang="fr-FR" sz="12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String</a:t>
            </a:r>
            <a:r>
              <a:rPr lang="fr-FR" sz="1200" b="0" i="0" u="none" strike="noStrike" cap="none" spc="0">
                <a:solidFill>
                  <a:srgbClr val="BCBEC4"/>
                </a:solidFill>
                <a:latin typeface="Caladea"/>
                <a:ea typeface="Caladea"/>
                <a:cs typeface="Caladea"/>
              </a:rPr>
              <a:t> </a:t>
            </a:r>
            <a:r>
              <a:rPr lang="fr-FR" sz="1200" b="0" i="0" u="none" strike="noStrike" cap="none" spc="0">
                <a:solidFill>
                  <a:srgbClr val="C77DBB"/>
                </a:solidFill>
                <a:latin typeface="Caladea"/>
                <a:ea typeface="Caladea"/>
                <a:cs typeface="Caladea"/>
              </a:rPr>
              <a:t>openningHours</a:t>
            </a:r>
            <a:endParaRPr sz="1200" b="0" i="0" u="none">
              <a:solidFill>
                <a:srgbClr val="BCBEC4"/>
              </a:solidFill>
              <a:latin typeface="Caladea"/>
              <a:cs typeface="Caladea"/>
            </a:endParaRPr>
          </a:p>
          <a:p>
            <a:pPr lvl="2">
              <a:defRPr/>
            </a:pPr>
            <a:r>
              <a:rPr lang="fr-FR" sz="12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String </a:t>
            </a:r>
            <a:r>
              <a:rPr lang="fr-FR" sz="1200" b="0" i="0" u="none" strike="noStrike" cap="none" spc="0">
                <a:solidFill>
                  <a:srgbClr val="C77DBB"/>
                </a:solidFill>
                <a:latin typeface="Caladea"/>
                <a:ea typeface="Caladea"/>
                <a:cs typeface="Caladea"/>
              </a:rPr>
              <a:t>phoneNumber</a:t>
            </a:r>
            <a:endParaRPr sz="1200" b="0" i="0" u="none">
              <a:solidFill>
                <a:srgbClr val="BCBEC4"/>
              </a:solidFill>
              <a:latin typeface="Caladea"/>
              <a:cs typeface="Caladea"/>
            </a:endParaRPr>
          </a:p>
          <a:p>
            <a:pPr lvl="2">
              <a:defRPr/>
            </a:pPr>
            <a:r>
              <a:rPr lang="fr-FR" sz="12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String</a:t>
            </a:r>
            <a:r>
              <a:rPr lang="fr-FR" sz="1200" b="0" i="0" u="none" strike="noStrike" cap="none" spc="0">
                <a:solidFill>
                  <a:srgbClr val="BCBEC4"/>
                </a:solidFill>
                <a:latin typeface="Caladea"/>
                <a:ea typeface="Caladea"/>
                <a:cs typeface="Caladea"/>
              </a:rPr>
              <a:t> </a:t>
            </a:r>
            <a:r>
              <a:rPr lang="fr-FR" sz="1200" b="0" i="0" u="none" strike="noStrike" cap="none" spc="0">
                <a:solidFill>
                  <a:srgbClr val="C77DBB"/>
                </a:solidFill>
                <a:latin typeface="Caladea"/>
                <a:ea typeface="Caladea"/>
                <a:cs typeface="Caladea"/>
              </a:rPr>
              <a:t>websiteUrl</a:t>
            </a:r>
            <a:endParaRPr sz="1200" b="0" i="0" u="none">
              <a:solidFill>
                <a:srgbClr val="BCBEC4"/>
              </a:solidFill>
              <a:latin typeface="Caladea"/>
              <a:cs typeface="Caladea"/>
            </a:endParaRPr>
          </a:p>
          <a:p>
            <a:pPr lvl="2">
              <a:defRPr/>
            </a:pPr>
            <a:r>
              <a:rPr lang="fr-FR" sz="12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String</a:t>
            </a:r>
            <a:r>
              <a:rPr lang="fr-FR" sz="1200" b="0" i="0" u="none" strike="noStrike" cap="none" spc="0">
                <a:solidFill>
                  <a:srgbClr val="BCBEC4"/>
                </a:solidFill>
                <a:latin typeface="Caladea"/>
                <a:ea typeface="Caladea"/>
                <a:cs typeface="Caladea"/>
              </a:rPr>
              <a:t> </a:t>
            </a:r>
            <a:r>
              <a:rPr lang="fr-FR" sz="1200" b="0" i="0" u="none" strike="noStrike" cap="none" spc="0">
                <a:solidFill>
                  <a:srgbClr val="C77DBB"/>
                </a:solidFill>
                <a:latin typeface="Caladea"/>
                <a:ea typeface="Caladea"/>
                <a:cs typeface="Caladea"/>
              </a:rPr>
              <a:t>photoUrl</a:t>
            </a:r>
            <a:endParaRPr lang="fr-FR" sz="1200" b="0" i="0" u="none" strike="noStrike" cap="none" spc="0">
              <a:solidFill>
                <a:srgbClr val="C77DBB"/>
              </a:solidFill>
              <a:latin typeface="Times New Roman"/>
              <a:cs typeface="Times New Roman"/>
            </a:endParaRPr>
          </a:p>
          <a:p>
            <a:pPr lvl="2">
              <a:defRPr/>
            </a:pPr>
            <a:r>
              <a:rPr lang="fr-FR" sz="12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int</a:t>
            </a:r>
            <a:r>
              <a:rPr lang="fr-FR" sz="1200" b="0" i="0" u="none" strike="noStrike" cap="none" spc="0">
                <a:solidFill>
                  <a:srgbClr val="BCBEC4"/>
                </a:solidFill>
                <a:latin typeface="Caladea"/>
                <a:ea typeface="Caladea"/>
                <a:cs typeface="Caladea"/>
              </a:rPr>
              <a:t> </a:t>
            </a:r>
            <a:r>
              <a:rPr lang="fr-FR" sz="1200" b="0" i="0" u="none" strike="noStrike" cap="none" spc="0">
                <a:solidFill>
                  <a:srgbClr val="C77DBB"/>
                </a:solidFill>
                <a:latin typeface="Caladea"/>
                <a:ea typeface="Caladea"/>
                <a:cs typeface="Caladea"/>
              </a:rPr>
              <a:t>workmatesCount</a:t>
            </a:r>
            <a:endParaRPr sz="1200" b="0" i="0" u="none">
              <a:solidFill>
                <a:srgbClr val="BCBEC4"/>
              </a:solidFill>
              <a:latin typeface="Caladea"/>
              <a:cs typeface="Caladea"/>
            </a:endParaRPr>
          </a:p>
          <a:p>
            <a:pPr lvl="2">
              <a:defRPr/>
            </a:pPr>
            <a:r>
              <a:rPr lang="fr-FR" sz="12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int</a:t>
            </a:r>
            <a:r>
              <a:rPr lang="fr-FR" sz="1200" b="0" i="0" u="none" strike="noStrike" cap="none" spc="0">
                <a:solidFill>
                  <a:srgbClr val="BCBEC4"/>
                </a:solidFill>
                <a:latin typeface="Caladea"/>
                <a:ea typeface="Caladea"/>
                <a:cs typeface="Caladea"/>
              </a:rPr>
              <a:t> </a:t>
            </a:r>
            <a:r>
              <a:rPr lang="fr-FR" sz="1200" b="0" i="0" u="none" strike="noStrike" cap="none" spc="0">
                <a:solidFill>
                  <a:srgbClr val="C77DBB"/>
                </a:solidFill>
                <a:latin typeface="Caladea"/>
                <a:ea typeface="Caladea"/>
                <a:cs typeface="Caladea"/>
              </a:rPr>
              <a:t>stars</a:t>
            </a:r>
            <a:endParaRPr sz="1200" b="0" i="0" u="none" strike="noStrike" cap="none" spc="0">
              <a:solidFill>
                <a:srgbClr val="C77DBB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000">
                <a:solidFill>
                  <a:schemeClr val="accent6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Dans Firebase</a:t>
            </a:r>
            <a:r>
              <a:rPr sz="2000">
                <a:solidFill>
                  <a:schemeClr val="accent6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 2 collections</a:t>
            </a:r>
            <a:r>
              <a:rPr sz="2000">
                <a:solidFill>
                  <a:schemeClr val="accent6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 : </a:t>
            </a:r>
            <a:endParaRPr sz="2000">
              <a:solidFill>
                <a:schemeClr val="accent6">
                  <a:lumMod val="75000"/>
                </a:schemeClr>
              </a:solidFill>
              <a:latin typeface="Caladea"/>
              <a:ea typeface="Caladea"/>
              <a:cs typeface="Caladea"/>
            </a:endParaRPr>
          </a:p>
          <a:p>
            <a:pPr marL="0" indent="0">
              <a:buFont typeface="Arial"/>
              <a:buNone/>
              <a:defRPr/>
            </a:pPr>
            <a:endParaRPr sz="1400"/>
          </a:p>
          <a:p>
            <a:pPr lvl="1">
              <a:defRPr/>
            </a:pPr>
            <a:r>
              <a:rPr sz="1600">
                <a:solidFill>
                  <a:schemeClr val="accent2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user</a:t>
            </a:r>
            <a:r>
              <a:rPr sz="1600">
                <a:solidFill>
                  <a:schemeClr val="accent2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s</a:t>
            </a:r>
            <a:endParaRPr>
              <a:solidFill>
                <a:schemeClr val="accent2">
                  <a:lumMod val="75000"/>
                </a:schemeClr>
              </a:solidFill>
            </a:endParaRPr>
          </a:p>
          <a:p>
            <a:pPr lvl="2">
              <a:defRPr/>
            </a:pPr>
            <a:r>
              <a:rPr sz="1400">
                <a:solidFill>
                  <a:schemeClr val="accent5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Documents </a:t>
            </a:r>
            <a:r>
              <a:rPr sz="1400">
                <a:solidFill>
                  <a:schemeClr val="accent5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: label user uid (string), </a:t>
            </a:r>
            <a:r>
              <a:rPr sz="1400">
                <a:solidFill>
                  <a:schemeClr val="accent5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(fields)</a:t>
            </a:r>
            <a:r>
              <a:rPr sz="1400">
                <a:solidFill>
                  <a:schemeClr val="accent5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 :</a:t>
            </a:r>
            <a:endParaRPr sz="1400">
              <a:latin typeface="Caladea"/>
              <a:cs typeface="Caladea"/>
            </a:endParaRPr>
          </a:p>
          <a:p>
            <a:pPr lvl="3">
              <a:defRPr/>
            </a:pPr>
            <a:r>
              <a:rPr sz="1200" i="1">
                <a:solidFill>
                  <a:schemeClr val="accent6">
                    <a:lumMod val="50000"/>
                  </a:schemeClr>
                </a:solidFill>
                <a:latin typeface="Caladea"/>
                <a:ea typeface="Caladea"/>
                <a:cs typeface="Caladea"/>
              </a:rPr>
              <a:t>avatar url :</a:t>
            </a:r>
            <a:r>
              <a:rPr sz="1200">
                <a:latin typeface="Caladea"/>
                <a:ea typeface="Caladea"/>
                <a:cs typeface="Caladea"/>
              </a:rPr>
              <a:t> (string)</a:t>
            </a:r>
            <a:endParaRPr sz="1200">
              <a:latin typeface="Caladea"/>
              <a:cs typeface="Caladea"/>
            </a:endParaRPr>
          </a:p>
          <a:p>
            <a:pPr lvl="3">
              <a:defRPr/>
            </a:pPr>
            <a:r>
              <a:rPr sz="1200" i="1">
                <a:solidFill>
                  <a:schemeClr val="accent6">
                    <a:lumMod val="50000"/>
                  </a:schemeClr>
                </a:solidFill>
                <a:latin typeface="Caladea"/>
                <a:ea typeface="Caladea"/>
                <a:cs typeface="Caladea"/>
              </a:rPr>
              <a:t>uid</a:t>
            </a:r>
            <a:r>
              <a:rPr sz="1200" i="1">
                <a:solidFill>
                  <a:schemeClr val="accent6">
                    <a:lumMod val="50000"/>
                  </a:schemeClr>
                </a:solidFill>
                <a:latin typeface="Caladea"/>
                <a:ea typeface="Caladea"/>
                <a:cs typeface="Caladea"/>
              </a:rPr>
              <a:t> : </a:t>
            </a:r>
            <a:r>
              <a:rPr lang="fr-FR" sz="12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 (string)</a:t>
            </a:r>
            <a:endParaRPr sz="1200">
              <a:latin typeface="Caladea"/>
              <a:cs typeface="Caladea"/>
            </a:endParaRPr>
          </a:p>
          <a:p>
            <a:pPr lvl="3">
              <a:defRPr/>
            </a:pPr>
            <a:r>
              <a:rPr sz="1200" i="1">
                <a:solidFill>
                  <a:schemeClr val="accent6">
                    <a:lumMod val="50000"/>
                  </a:schemeClr>
                </a:solidFill>
                <a:latin typeface="Caladea"/>
                <a:ea typeface="Caladea"/>
                <a:cs typeface="Caladea"/>
              </a:rPr>
              <a:t>usernam</a:t>
            </a:r>
            <a:r>
              <a:rPr sz="1200" i="1">
                <a:solidFill>
                  <a:schemeClr val="accent6">
                    <a:lumMod val="50000"/>
                  </a:schemeClr>
                </a:solidFill>
                <a:latin typeface="Caladea"/>
                <a:ea typeface="Caladea"/>
                <a:cs typeface="Caladea"/>
              </a:rPr>
              <a:t>e </a:t>
            </a:r>
            <a:r>
              <a:rPr sz="1200" i="1">
                <a:solidFill>
                  <a:schemeClr val="accent6">
                    <a:lumMod val="50000"/>
                  </a:schemeClr>
                </a:solidFill>
                <a:latin typeface="Caladea"/>
                <a:ea typeface="Caladea"/>
                <a:cs typeface="Caladea"/>
              </a:rPr>
              <a:t>: </a:t>
            </a:r>
            <a:r>
              <a:rPr lang="fr-FR" sz="1200" b="0" i="1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 </a:t>
            </a:r>
            <a:r>
              <a:rPr lang="fr-FR" sz="12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(string)</a:t>
            </a:r>
            <a:endParaRPr sz="1200">
              <a:latin typeface="Caladea"/>
              <a:cs typeface="Caladea"/>
            </a:endParaRPr>
          </a:p>
          <a:p>
            <a:pPr lvl="3">
              <a:defRPr/>
            </a:pPr>
            <a:r>
              <a:rPr sz="1200" i="1">
                <a:solidFill>
                  <a:schemeClr val="accent6">
                    <a:lumMod val="50000"/>
                  </a:schemeClr>
                </a:solidFill>
                <a:latin typeface="Caladea"/>
                <a:ea typeface="Caladea"/>
                <a:cs typeface="Caladea"/>
              </a:rPr>
              <a:t>chosenRestaurantAddress </a:t>
            </a:r>
            <a:r>
              <a:rPr sz="1200" i="1">
                <a:solidFill>
                  <a:schemeClr val="accent6">
                    <a:lumMod val="50000"/>
                  </a:schemeClr>
                </a:solidFill>
                <a:latin typeface="Caladea"/>
                <a:ea typeface="Caladea"/>
                <a:cs typeface="Caladea"/>
              </a:rPr>
              <a:t>:</a:t>
            </a:r>
            <a:r>
              <a:rPr lang="fr-FR" sz="1200" b="0" i="1" u="none" strike="noStrike" cap="none" spc="0">
                <a:solidFill>
                  <a:schemeClr val="accent6">
                    <a:lumMod val="50000"/>
                  </a:schemeClr>
                </a:solidFill>
                <a:latin typeface="Caladea"/>
                <a:ea typeface="Caladea"/>
                <a:cs typeface="Caladea"/>
              </a:rPr>
              <a:t> </a:t>
            </a:r>
            <a:r>
              <a:rPr lang="fr-FR" sz="12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(string)</a:t>
            </a:r>
            <a:endParaRPr sz="1200">
              <a:latin typeface="Caladea"/>
              <a:cs typeface="Caladea"/>
            </a:endParaRPr>
          </a:p>
          <a:p>
            <a:pPr lvl="3">
              <a:defRPr/>
            </a:pPr>
            <a:r>
              <a:rPr sz="1200" i="1">
                <a:solidFill>
                  <a:schemeClr val="accent6">
                    <a:lumMod val="50000"/>
                  </a:schemeClr>
                </a:solidFill>
                <a:latin typeface="Caladea"/>
                <a:ea typeface="Caladea"/>
                <a:cs typeface="Caladea"/>
              </a:rPr>
              <a:t>chosenRestaurantId : </a:t>
            </a:r>
            <a:r>
              <a:rPr lang="fr-FR" sz="12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 (string)</a:t>
            </a:r>
            <a:endParaRPr sz="1200">
              <a:latin typeface="Caladea"/>
              <a:cs typeface="Caladea"/>
            </a:endParaRPr>
          </a:p>
          <a:p>
            <a:pPr lvl="3">
              <a:defRPr/>
            </a:pPr>
            <a:r>
              <a:rPr sz="1200" i="1">
                <a:solidFill>
                  <a:schemeClr val="accent6">
                    <a:lumMod val="50000"/>
                  </a:schemeClr>
                </a:solidFill>
                <a:latin typeface="Caladea"/>
                <a:ea typeface="Caladea"/>
                <a:cs typeface="Caladea"/>
              </a:rPr>
              <a:t>chosenRestaurantName :</a:t>
            </a:r>
            <a:r>
              <a:rPr sz="1200" i="1">
                <a:solidFill>
                  <a:schemeClr val="accent6">
                    <a:lumMod val="50000"/>
                  </a:schemeClr>
                </a:solidFill>
                <a:latin typeface="Caladea"/>
                <a:ea typeface="Caladea"/>
                <a:cs typeface="Caladea"/>
              </a:rPr>
              <a:t> </a:t>
            </a:r>
            <a:r>
              <a:rPr lang="fr-FR" sz="12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 (string)</a:t>
            </a:r>
            <a:endParaRPr sz="1200">
              <a:latin typeface="Caladea"/>
              <a:cs typeface="Caladea"/>
            </a:endParaRPr>
          </a:p>
          <a:p>
            <a:pPr lvl="3">
              <a:defRPr/>
            </a:pPr>
            <a:r>
              <a:rPr sz="1200" i="1">
                <a:solidFill>
                  <a:schemeClr val="accent6">
                    <a:lumMod val="50000"/>
                  </a:schemeClr>
                </a:solidFill>
                <a:latin typeface="Caladea"/>
                <a:ea typeface="Caladea"/>
                <a:cs typeface="Caladea"/>
              </a:rPr>
              <a:t>likedRestaurants :</a:t>
            </a:r>
            <a:r>
              <a:rPr sz="1200" i="1">
                <a:solidFill>
                  <a:schemeClr val="accent6">
                    <a:lumMod val="50000"/>
                  </a:schemeClr>
                </a:solidFill>
                <a:latin typeface="Caladea"/>
                <a:ea typeface="Caladea"/>
                <a:cs typeface="Caladea"/>
              </a:rPr>
              <a:t> </a:t>
            </a:r>
            <a:r>
              <a:rPr sz="1200">
                <a:latin typeface="Caladea"/>
                <a:ea typeface="Caladea"/>
                <a:cs typeface="Caladea"/>
              </a:rPr>
              <a:t>(array of strings (restraurantId))</a:t>
            </a:r>
            <a:endParaRPr sz="1200">
              <a:latin typeface="Caladea"/>
              <a:cs typeface="Caladea"/>
            </a:endParaRPr>
          </a:p>
          <a:p>
            <a:pPr marL="1371600" lvl="3" indent="0">
              <a:buFont typeface="Arial"/>
              <a:buNone/>
              <a:defRPr/>
            </a:pPr>
            <a:endParaRPr sz="1000"/>
          </a:p>
          <a:p>
            <a:pPr marL="457200" lvl="1" indent="0">
              <a:buFont typeface="Arial"/>
              <a:buNone/>
              <a:defRPr/>
            </a:pPr>
            <a:endParaRPr/>
          </a:p>
          <a:p>
            <a:pPr lvl="3">
              <a:defRPr/>
            </a:pPr>
            <a:endParaRPr sz="1400">
              <a:latin typeface="Caladea"/>
              <a:cs typeface="Calad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4847059" name="Espace réservé du contenu 2"/>
          <p:cNvSpPr>
            <a:spLocks noGrp="1"/>
          </p:cNvSpPr>
          <p:nvPr/>
        </p:nvSpPr>
        <p:spPr bwMode="auto">
          <a:xfrm flipH="0" flipV="0">
            <a:off x="838197" y="480917"/>
            <a:ext cx="10515600" cy="6205257"/>
          </a:xfrm>
        </p:spPr>
        <p:txBody>
          <a:bodyPr vertOverflow="overflow" horzOverflow="overflow" vert="horz" wrap="square" lIns="91440" tIns="45720" rIns="91440" bIns="45720" numCol="2" spcCol="0" rtlCol="0" fromWordArt="0" anchor="t" anchorCtr="0" forceAA="0" upright="0" compatLnSpc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/>
          </a:p>
          <a:p>
            <a:pPr>
              <a:defRPr/>
            </a:pPr>
            <a:r>
              <a:rPr lang="fr-FR" sz="16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message</a:t>
            </a:r>
            <a:endParaRPr lang="fr-FR" sz="1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2">
              <a:defRPr/>
            </a:pPr>
            <a:r>
              <a:rPr lang="fr-FR" sz="12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String</a:t>
            </a:r>
            <a:r>
              <a:rPr lang="fr-FR" sz="1200" b="0" i="0" u="none" strike="noStrike" cap="none" spc="0">
                <a:solidFill>
                  <a:srgbClr val="BCBEC4"/>
                </a:solidFill>
                <a:latin typeface="Caladea"/>
                <a:ea typeface="Caladea"/>
                <a:cs typeface="Caladea"/>
              </a:rPr>
              <a:t> </a:t>
            </a:r>
            <a:r>
              <a:rPr lang="fr-FR" sz="1200" b="0" i="0" u="none" strike="noStrike" cap="none" spc="0">
                <a:solidFill>
                  <a:srgbClr val="C77DBB"/>
                </a:solidFill>
                <a:latin typeface="Caladea"/>
                <a:ea typeface="Caladea"/>
                <a:cs typeface="Caladea"/>
              </a:rPr>
              <a:t>id</a:t>
            </a:r>
            <a:endParaRPr sz="1200" b="0" i="0" u="none">
              <a:solidFill>
                <a:srgbClr val="BCBEC4"/>
              </a:solidFill>
              <a:latin typeface="Caladea"/>
              <a:cs typeface="Caladea"/>
            </a:endParaRPr>
          </a:p>
          <a:p>
            <a:pPr lvl="2">
              <a:defRPr/>
            </a:pPr>
            <a:r>
              <a:rPr lang="fr-FR" sz="12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String </a:t>
            </a:r>
            <a:r>
              <a:rPr lang="fr-FR" sz="1200" b="0" i="0" u="none" strike="noStrike" cap="none" spc="0">
                <a:solidFill>
                  <a:srgbClr val="C77DBB"/>
                </a:solidFill>
                <a:latin typeface="Caladea"/>
                <a:ea typeface="Caladea"/>
                <a:cs typeface="Caladea"/>
              </a:rPr>
              <a:t>senderId</a:t>
            </a:r>
            <a:endParaRPr sz="1200" b="0" i="0" u="none">
              <a:solidFill>
                <a:srgbClr val="BCBEC4"/>
              </a:solidFill>
              <a:latin typeface="Caladea"/>
              <a:cs typeface="Caladea"/>
            </a:endParaRPr>
          </a:p>
          <a:p>
            <a:pPr lvl="2">
              <a:defRPr/>
            </a:pPr>
            <a:r>
              <a:rPr lang="fr-FR" sz="12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String</a:t>
            </a:r>
            <a:r>
              <a:rPr lang="fr-FR" sz="1200" b="0" i="0" u="none" strike="noStrike" cap="none" spc="0">
                <a:solidFill>
                  <a:srgbClr val="BCBEC4"/>
                </a:solidFill>
                <a:latin typeface="Caladea"/>
                <a:ea typeface="Caladea"/>
                <a:cs typeface="Caladea"/>
              </a:rPr>
              <a:t> </a:t>
            </a:r>
            <a:r>
              <a:rPr lang="fr-FR" sz="1200" b="0" i="0" u="none" strike="noStrike" cap="none" spc="0">
                <a:solidFill>
                  <a:srgbClr val="C77DBB"/>
                </a:solidFill>
                <a:latin typeface="Caladea"/>
                <a:ea typeface="Caladea"/>
                <a:cs typeface="Caladea"/>
              </a:rPr>
              <a:t>senderName</a:t>
            </a:r>
            <a:endParaRPr sz="1200" b="0" i="0" u="none">
              <a:solidFill>
                <a:srgbClr val="BCBEC4"/>
              </a:solidFill>
              <a:latin typeface="Caladea"/>
              <a:cs typeface="Caladea"/>
            </a:endParaRPr>
          </a:p>
          <a:p>
            <a:pPr lvl="2">
              <a:defRPr/>
            </a:pPr>
            <a:r>
              <a:rPr lang="fr-FR" sz="12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String </a:t>
            </a:r>
            <a:r>
              <a:rPr lang="fr-FR" sz="1200" b="0" i="0" u="none" strike="noStrike" cap="none" spc="0">
                <a:solidFill>
                  <a:srgbClr val="C77DBB"/>
                </a:solidFill>
                <a:latin typeface="Caladea"/>
                <a:ea typeface="Caladea"/>
                <a:cs typeface="Caladea"/>
              </a:rPr>
              <a:t>senderAvatarUrl</a:t>
            </a:r>
            <a:endParaRPr sz="1200" b="0" i="0" u="none">
              <a:solidFill>
                <a:srgbClr val="BCBEC4"/>
              </a:solidFill>
              <a:latin typeface="Caladea"/>
              <a:cs typeface="Caladea"/>
            </a:endParaRPr>
          </a:p>
          <a:p>
            <a:pPr lvl="2">
              <a:defRPr/>
            </a:pPr>
            <a:r>
              <a:rPr lang="fr-FR" sz="12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String </a:t>
            </a:r>
            <a:r>
              <a:rPr lang="fr-FR" sz="1200" b="0" i="0" u="none" strike="noStrike" cap="none" spc="0">
                <a:solidFill>
                  <a:srgbClr val="C77DBB"/>
                </a:solidFill>
                <a:latin typeface="Caladea"/>
                <a:ea typeface="Caladea"/>
                <a:cs typeface="Caladea"/>
              </a:rPr>
              <a:t>text</a:t>
            </a:r>
            <a:endParaRPr sz="1200" b="0" i="0" u="none">
              <a:solidFill>
                <a:srgbClr val="BCBEC4"/>
              </a:solidFill>
              <a:latin typeface="Caladea"/>
              <a:cs typeface="Caladea"/>
            </a:endParaRPr>
          </a:p>
          <a:p>
            <a:pPr lvl="2">
              <a:defRPr/>
            </a:pPr>
            <a:r>
              <a:rPr lang="fr-FR" sz="12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Date</a:t>
            </a:r>
            <a:r>
              <a:rPr lang="fr-FR" sz="1200" b="0" i="0" u="none" strike="noStrike" cap="none" spc="0">
                <a:solidFill>
                  <a:srgbClr val="BCBEC4"/>
                </a:solidFill>
                <a:latin typeface="Caladea"/>
                <a:ea typeface="Caladea"/>
                <a:cs typeface="Caladea"/>
              </a:rPr>
              <a:t> </a:t>
            </a:r>
            <a:r>
              <a:rPr lang="fr-FR" sz="1200" b="0" i="0" u="none" strike="noStrike" cap="none" spc="0">
                <a:solidFill>
                  <a:srgbClr val="C77DBB"/>
                </a:solidFill>
                <a:latin typeface="Caladea"/>
                <a:ea typeface="Caladea"/>
                <a:cs typeface="Caladea"/>
              </a:rPr>
              <a:t>timestamp</a:t>
            </a:r>
            <a:endParaRPr sz="1200"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 lvl="1">
              <a:defRPr/>
            </a:pPr>
            <a:r>
              <a:rPr lang="fr-FR" sz="1600" b="0" i="0" u="none" strike="noStrike" cap="none" spc="0">
                <a:solidFill>
                  <a:schemeClr val="accent2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chat_message</a:t>
            </a:r>
            <a:r>
              <a:rPr lang="fr-FR" sz="1600" b="0" i="0" u="none" strike="noStrike" cap="none" spc="0">
                <a:solidFill>
                  <a:schemeClr val="accent2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s</a:t>
            </a:r>
            <a:endParaRPr sz="1600"/>
          </a:p>
          <a:p>
            <a:pPr lvl="2">
              <a:defRPr/>
            </a:pP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Documents : </a:t>
            </a: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 (auto generated)</a:t>
            </a:r>
            <a:r>
              <a:rPr lang="fr-FR" sz="14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(string), (fields) :</a:t>
            </a:r>
            <a:endParaRPr sz="1600">
              <a:latin typeface="Caladea"/>
              <a:cs typeface="Caladea"/>
            </a:endParaRPr>
          </a:p>
          <a:p>
            <a:pPr lvl="3">
              <a:defRPr/>
            </a:pPr>
            <a:r>
              <a:rPr lang="fr-FR" sz="1200" b="0" i="1" u="none" strike="noStrike" cap="none" spc="0">
                <a:solidFill>
                  <a:srgbClr val="4F6E47"/>
                </a:solidFill>
                <a:latin typeface="Caladea"/>
                <a:ea typeface="Caladea"/>
                <a:cs typeface="Caladea"/>
              </a:rPr>
              <a:t>id</a:t>
            </a:r>
            <a:r>
              <a:rPr lang="fr-FR" sz="1200" b="0" i="1" u="none" strike="noStrike" cap="none" spc="0">
                <a:solidFill>
                  <a:srgbClr val="4F6E47"/>
                </a:solidFill>
                <a:latin typeface="Caladea"/>
                <a:ea typeface="Caladea"/>
                <a:cs typeface="Caladea"/>
              </a:rPr>
              <a:t> : 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(string)</a:t>
            </a:r>
            <a:endParaRPr lang="fr-FR" sz="1200" b="0" i="0" u="none" strike="noStrike" cap="none" spc="0">
              <a:solidFill>
                <a:schemeClr val="tx1"/>
              </a:solidFill>
              <a:latin typeface="Caladea"/>
              <a:ea typeface="Caladea"/>
              <a:cs typeface="Caladea"/>
            </a:endParaRPr>
          </a:p>
          <a:p>
            <a:pPr lvl="3">
              <a:defRPr/>
            </a:pPr>
            <a:r>
              <a:rPr lang="fr-FR" sz="1200" b="0" i="1" u="none" strike="noStrike" cap="none" spc="0">
                <a:solidFill>
                  <a:schemeClr val="accent6">
                    <a:lumMod val="50000"/>
                  </a:schemeClr>
                </a:solidFill>
                <a:latin typeface="Caladea"/>
                <a:ea typeface="Caladea"/>
                <a:cs typeface="Caladea"/>
              </a:rPr>
              <a:t>sende</a:t>
            </a:r>
            <a:r>
              <a:rPr lang="fr-FR" sz="1200" b="0" i="1" u="none" strike="noStrike" cap="none" spc="0">
                <a:solidFill>
                  <a:srgbClr val="4F6E47"/>
                </a:solidFill>
                <a:latin typeface="Caladea"/>
                <a:ea typeface="Caladea"/>
                <a:cs typeface="Caladea"/>
              </a:rPr>
              <a:t>rAvat</a:t>
            </a:r>
            <a:r>
              <a:rPr lang="fr-FR" sz="1200" b="0" i="1" u="none" strike="noStrike" cap="none" spc="0">
                <a:solidFill>
                  <a:schemeClr val="accent6">
                    <a:lumMod val="50000"/>
                  </a:schemeClr>
                </a:solidFill>
                <a:latin typeface="Caladea"/>
                <a:ea typeface="Caladea"/>
                <a:cs typeface="Caladea"/>
              </a:rPr>
              <a:t>arUrl :</a:t>
            </a:r>
            <a:r>
              <a:rPr lang="fr-FR" sz="1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Caladea"/>
                <a:ea typeface="Caladea"/>
                <a:cs typeface="Caladea"/>
              </a:rPr>
              <a:t> </a:t>
            </a:r>
            <a:r>
              <a:rPr lang="fr-FR" sz="12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(string)</a:t>
            </a:r>
            <a:endParaRPr lang="fr-FR" sz="1200" b="0" i="0" u="none" strike="noStrike" cap="none" spc="0">
              <a:solidFill>
                <a:schemeClr val="tx1"/>
              </a:solidFill>
              <a:latin typeface="Caladea"/>
              <a:ea typeface="Caladea"/>
              <a:cs typeface="Caladea"/>
            </a:endParaRPr>
          </a:p>
          <a:p>
            <a:pPr lvl="3">
              <a:defRPr/>
            </a:pPr>
            <a:r>
              <a:rPr lang="fr-FR" sz="1200" b="0" i="1" u="none" strike="noStrike" cap="none" spc="0">
                <a:solidFill>
                  <a:schemeClr val="accent6">
                    <a:lumMod val="50000"/>
                  </a:schemeClr>
                </a:solidFill>
                <a:latin typeface="Caladea"/>
                <a:ea typeface="Caladea"/>
                <a:cs typeface="Caladea"/>
              </a:rPr>
              <a:t>senderId :</a:t>
            </a:r>
            <a:r>
              <a:rPr lang="fr-FR" sz="1200" b="0" i="1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 </a:t>
            </a:r>
            <a:r>
              <a:rPr lang="fr-FR" sz="12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(string)</a:t>
            </a:r>
            <a:endParaRPr sz="1200">
              <a:latin typeface="Caladea"/>
              <a:cs typeface="Caladea"/>
            </a:endParaRPr>
          </a:p>
          <a:p>
            <a:pPr lvl="3">
              <a:defRPr/>
            </a:pPr>
            <a:r>
              <a:rPr lang="fr-FR" sz="1200" b="0" i="1" u="none" strike="noStrike" cap="none" spc="0">
                <a:solidFill>
                  <a:schemeClr val="accent6">
                    <a:lumMod val="50000"/>
                  </a:schemeClr>
                </a:solidFill>
                <a:latin typeface="Caladea"/>
                <a:ea typeface="Caladea"/>
                <a:cs typeface="Caladea"/>
              </a:rPr>
              <a:t>senderName : </a:t>
            </a:r>
            <a:r>
              <a:rPr lang="fr-FR" sz="12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(string)</a:t>
            </a:r>
            <a:endParaRPr sz="1200">
              <a:latin typeface="Caladea"/>
              <a:cs typeface="Caladea"/>
            </a:endParaRPr>
          </a:p>
          <a:p>
            <a:pPr lvl="3">
              <a:defRPr/>
            </a:pPr>
            <a:r>
              <a:rPr lang="fr-FR" sz="1200" b="0" i="1" u="none" strike="noStrike" cap="none" spc="0">
                <a:solidFill>
                  <a:schemeClr val="accent6">
                    <a:lumMod val="50000"/>
                  </a:schemeClr>
                </a:solidFill>
                <a:latin typeface="Caladea"/>
                <a:ea typeface="Caladea"/>
                <a:cs typeface="Caladea"/>
              </a:rPr>
              <a:t>text :</a:t>
            </a:r>
            <a:r>
              <a:rPr lang="fr-FR" sz="1200" b="0" i="1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 </a:t>
            </a:r>
            <a:r>
              <a:rPr lang="fr-FR" sz="12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(string)</a:t>
            </a:r>
            <a:endParaRPr sz="1200">
              <a:latin typeface="Caladea"/>
              <a:cs typeface="Caladea"/>
            </a:endParaRPr>
          </a:p>
          <a:p>
            <a:pPr lvl="3">
              <a:defRPr/>
            </a:pPr>
            <a:r>
              <a:rPr lang="fr-FR" sz="1200" b="0" i="1" u="none" strike="noStrike" cap="none" spc="0">
                <a:solidFill>
                  <a:schemeClr val="accent6">
                    <a:lumMod val="50000"/>
                  </a:schemeClr>
                </a:solidFill>
                <a:latin typeface="Caladea"/>
                <a:ea typeface="Caladea"/>
                <a:cs typeface="Caladea"/>
              </a:rPr>
              <a:t>timestamp :</a:t>
            </a:r>
            <a:r>
              <a:rPr lang="fr-FR" sz="1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Caladea"/>
                <a:ea typeface="Caladea"/>
                <a:cs typeface="Caladea"/>
              </a:rPr>
              <a:t> </a:t>
            </a:r>
            <a:r>
              <a:rPr lang="fr-FR" sz="1200" b="0" i="0" u="none" strike="noStrike" cap="none" spc="0">
                <a:solidFill>
                  <a:schemeClr val="tx1"/>
                </a:solidFill>
                <a:latin typeface="Caladea"/>
                <a:ea typeface="Caladea"/>
                <a:cs typeface="Caladea"/>
              </a:rPr>
              <a:t>(timestamp)</a:t>
            </a:r>
            <a:endParaRPr sz="1600">
              <a:latin typeface="Caladea"/>
              <a:cs typeface="Caladea"/>
            </a:endParaRPr>
          </a:p>
          <a:p>
            <a:pPr marL="0" indent="0">
              <a:buFont typeface="Arial"/>
              <a:buNone/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6849170" name="Titr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10515600" cy="1035610"/>
          </a:xfrm>
        </p:spPr>
        <p:txBody>
          <a:bodyPr/>
          <a:lstStyle/>
          <a:p>
            <a:pPr algn="ctr">
              <a:defRPr/>
            </a:pPr>
            <a:r>
              <a:rPr>
                <a:solidFill>
                  <a:schemeClr val="accent5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Exemples d’implémentations</a:t>
            </a:r>
            <a:endParaRPr/>
          </a:p>
        </p:txBody>
      </p:sp>
      <p:sp>
        <p:nvSpPr>
          <p:cNvPr id="1529359801" name="Espace réservé du contenu 2"/>
          <p:cNvSpPr>
            <a:spLocks noGrp="1"/>
          </p:cNvSpPr>
          <p:nvPr>
            <p:ph idx="1"/>
          </p:nvPr>
        </p:nvSpPr>
        <p:spPr bwMode="auto">
          <a:xfrm rot="0" flipH="0" flipV="0">
            <a:off x="838800" y="1400400"/>
            <a:ext cx="10515600" cy="522007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Autofit/>
          </a:bodyPr>
          <a:lstStyle/>
          <a:p>
            <a:pPr>
              <a:defRPr/>
            </a:pPr>
            <a:r>
              <a:rPr lang="fr-FR" sz="20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Viewmodel Factory</a:t>
            </a:r>
            <a:endParaRPr sz="2200"/>
          </a:p>
          <a:p>
            <a:pPr marL="457200" lvl="1" indent="0">
              <a:buFont typeface="Arial"/>
              <a:buNone/>
              <a:defRPr/>
            </a:pPr>
            <a:r>
              <a:rPr lang="fr-FR" sz="14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Gestion des view model </a:t>
            </a:r>
            <a:r>
              <a:rPr sz="1400" i="1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et de l’</a:t>
            </a:r>
            <a:r>
              <a:rPr sz="1400" i="1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injection de dépendances</a:t>
            </a:r>
            <a:endParaRPr sz="1400" i="1">
              <a:solidFill>
                <a:schemeClr val="bg2">
                  <a:lumMod val="25000"/>
                </a:schemeClr>
              </a:solidFill>
              <a:latin typeface="Caladea"/>
              <a:ea typeface="Caladea"/>
              <a:cs typeface="Caladea"/>
            </a:endParaRPr>
          </a:p>
          <a:p>
            <a:pPr marL="457200" lvl="1" indent="0">
              <a:buFont typeface="Arial"/>
              <a:buNone/>
              <a:defRPr/>
            </a:pPr>
            <a:endParaRPr sz="1400" i="1">
              <a:solidFill>
                <a:schemeClr val="bg2">
                  <a:lumMod val="25000"/>
                </a:schemeClr>
              </a:solidFill>
              <a:latin typeface="Caladea"/>
              <a:ea typeface="Caladea"/>
              <a:cs typeface="Caladea"/>
            </a:endParaRPr>
          </a:p>
          <a:p>
            <a:pPr>
              <a:defRPr/>
            </a:pPr>
            <a:r>
              <a:rPr lang="fr-FR" sz="20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Navigation component</a:t>
            </a:r>
            <a:endParaRPr sz="2200"/>
          </a:p>
          <a:p>
            <a:pPr marL="457200" lvl="1" indent="0">
              <a:buFont typeface="Arial"/>
              <a:buNone/>
              <a:defRPr/>
            </a:pPr>
            <a:r>
              <a:rPr lang="fr-FR" sz="14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nav_graph</a:t>
            </a:r>
            <a:r>
              <a:rPr lang="fr-FR" sz="14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.xml</a:t>
            </a:r>
            <a:endParaRPr sz="1400" i="1">
              <a:solidFill>
                <a:schemeClr val="bg2">
                  <a:lumMod val="25000"/>
                </a:schemeClr>
              </a:solidFill>
              <a:latin typeface="Caladea"/>
              <a:cs typeface="Caladea"/>
            </a:endParaRPr>
          </a:p>
          <a:p>
            <a:pPr marL="457200" lvl="1" indent="0">
              <a:buFont typeface="Arial"/>
              <a:buNone/>
              <a:defRPr/>
            </a:pPr>
            <a:r>
              <a:rPr lang="fr-FR" sz="14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Utilisation des 2 types de navigation via  Actions et via destination_id.</a:t>
            </a:r>
            <a:endParaRPr lang="fr-FR" sz="1400" b="0" i="1" u="none" strike="noStrike" cap="none" spc="0">
              <a:solidFill>
                <a:schemeClr val="bg2">
                  <a:lumMod val="25000"/>
                </a:schemeClr>
              </a:solidFill>
              <a:latin typeface="Caladea"/>
              <a:ea typeface="Caladea"/>
              <a:cs typeface="Caladea"/>
            </a:endParaRPr>
          </a:p>
          <a:p>
            <a:pPr marL="457200" lvl="1" indent="0">
              <a:buFont typeface="Arial"/>
              <a:buNone/>
              <a:defRPr/>
            </a:pPr>
            <a:r>
              <a:rPr lang="fr-FR" sz="14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Class + lines</a:t>
            </a:r>
            <a:endParaRPr sz="2200">
              <a:solidFill>
                <a:schemeClr val="bg2">
                  <a:lumMod val="25000"/>
                </a:schemeClr>
              </a:solidFill>
            </a:endParaRPr>
          </a:p>
          <a:p>
            <a:pPr>
              <a:defRPr/>
            </a:pPr>
            <a:r>
              <a:rPr lang="fr-FR" sz="20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addSnapshotListeners</a:t>
            </a:r>
            <a:r>
              <a:rPr lang="fr-FR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endParaRPr lang="fr-FR" sz="22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457200" lvl="1" indent="0">
              <a:buFont typeface="Arial"/>
              <a:buNone/>
              <a:defRPr/>
            </a:pPr>
            <a:r>
              <a:rPr lang="fr-FR" sz="14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to listen firestore collection users to have a reactive UI</a:t>
            </a:r>
            <a:endParaRPr lang="fr-FR" sz="1400" b="0" i="1" u="none" strike="noStrike" cap="none" spc="0">
              <a:solidFill>
                <a:schemeClr val="bg2">
                  <a:lumMod val="25000"/>
                </a:schemeClr>
              </a:solidFill>
              <a:latin typeface="Caladea"/>
              <a:ea typeface="Caladea"/>
              <a:cs typeface="Caladea"/>
            </a:endParaRPr>
          </a:p>
          <a:p>
            <a:pPr marL="457200" lvl="1" indent="0">
              <a:buFont typeface="Arial"/>
              <a:buNone/>
              <a:defRPr/>
            </a:pPr>
            <a:r>
              <a:rPr lang="fr-FR" sz="14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Class + lines</a:t>
            </a:r>
            <a:endParaRPr lang="fr-FR" sz="1400" b="0" i="1" u="none" strike="noStrike" cap="none" spc="0">
              <a:solidFill>
                <a:schemeClr val="bg2">
                  <a:lumMod val="25000"/>
                </a:schemeClr>
              </a:solidFill>
              <a:latin typeface="Caladea"/>
              <a:ea typeface="Caladea"/>
              <a:cs typeface="Caladea"/>
            </a:endParaRPr>
          </a:p>
          <a:p>
            <a:pPr>
              <a:defRPr/>
            </a:pPr>
            <a:r>
              <a:rPr sz="2000">
                <a:solidFill>
                  <a:schemeClr val="accent6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Tasks()</a:t>
            </a:r>
            <a:endParaRPr sz="2200"/>
          </a:p>
          <a:p>
            <a:pPr marL="457200" lvl="1" indent="0">
              <a:buFont typeface="Arial"/>
              <a:buNone/>
              <a:defRPr/>
            </a:pPr>
            <a:r>
              <a:rPr sz="1400" i="1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for asynchronous programming</a:t>
            </a:r>
            <a:endParaRPr sz="1400" i="1">
              <a:solidFill>
                <a:schemeClr val="bg2">
                  <a:lumMod val="25000"/>
                </a:schemeClr>
              </a:solidFill>
              <a:latin typeface="Caladea"/>
              <a:ea typeface="Caladea"/>
              <a:cs typeface="Caladea"/>
            </a:endParaRPr>
          </a:p>
          <a:p>
            <a:pPr marL="457200" lvl="1" indent="0">
              <a:buFont typeface="Arial"/>
              <a:buNone/>
              <a:defRPr/>
            </a:pPr>
            <a:r>
              <a:rPr lang="fr-FR" sz="14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Class + lines</a:t>
            </a:r>
            <a:endParaRPr/>
          </a:p>
          <a:p>
            <a:pPr>
              <a:defRPr/>
            </a:pPr>
            <a:r>
              <a:rPr lang="fr-FR" sz="20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Automatic POJO Mapping</a:t>
            </a:r>
            <a:endParaRPr lang="fr-FR" sz="22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457200" lvl="1" indent="0">
              <a:buFont typeface="Arial"/>
              <a:buNone/>
              <a:defRPr/>
            </a:pPr>
            <a:r>
              <a:rPr lang="fr-FR" sz="14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When fetching datas from firestore</a:t>
            </a:r>
            <a:r>
              <a:rPr sz="1400" i="1">
                <a:solidFill>
                  <a:schemeClr val="bg2">
                    <a:lumMod val="25000"/>
                  </a:schemeClr>
                </a:solidFill>
                <a:latin typeface="Caladea"/>
                <a:cs typeface="Caladea"/>
              </a:rPr>
              <a:t> go straight away to a user Object</a:t>
            </a:r>
            <a:endParaRPr sz="1400" i="1">
              <a:solidFill>
                <a:schemeClr val="bg2">
                  <a:lumMod val="25000"/>
                </a:schemeClr>
              </a:solidFill>
              <a:latin typeface="Caladea"/>
              <a:cs typeface="Caladea"/>
            </a:endParaRPr>
          </a:p>
          <a:p>
            <a:pPr marL="457200" lvl="1" indent="0">
              <a:buFont typeface="Arial"/>
              <a:buNone/>
              <a:defRPr/>
            </a:pPr>
            <a:r>
              <a:rPr lang="fr-FR" sz="14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Class + lines</a:t>
            </a:r>
            <a:endParaRPr sz="1400" i="1">
              <a:solidFill>
                <a:schemeClr val="bg2">
                  <a:lumMod val="25000"/>
                </a:schemeClr>
              </a:solidFill>
              <a:latin typeface="Caladea"/>
              <a:cs typeface="Calad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895952" name="Titre 1"/>
          <p:cNvSpPr>
            <a:spLocks noGrp="1"/>
          </p:cNvSpPr>
          <p:nvPr>
            <p:ph type="title"/>
          </p:nvPr>
        </p:nvSpPr>
        <p:spPr bwMode="auto">
          <a:xfrm flipH="0" flipV="0">
            <a:off x="838197" y="103653"/>
            <a:ext cx="10515600" cy="811493"/>
          </a:xfrm>
        </p:spPr>
        <p:txBody>
          <a:bodyPr/>
          <a:lstStyle/>
          <a:p>
            <a:pPr algn="ctr">
              <a:defRPr/>
            </a:pPr>
            <a:r>
              <a:rPr>
                <a:solidFill>
                  <a:schemeClr val="accent5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Tests Unitaires</a:t>
            </a:r>
            <a:endParaRPr/>
          </a:p>
        </p:txBody>
      </p:sp>
      <p:sp>
        <p:nvSpPr>
          <p:cNvPr id="1224276856" name="Espace réservé du contenu 2"/>
          <p:cNvSpPr>
            <a:spLocks noGrp="1"/>
          </p:cNvSpPr>
          <p:nvPr>
            <p:ph idx="1"/>
          </p:nvPr>
        </p:nvSpPr>
        <p:spPr bwMode="auto">
          <a:xfrm rot="0" flipH="0" flipV="0">
            <a:off x="838800" y="915147"/>
            <a:ext cx="10515600" cy="580838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Autofit/>
          </a:bodyPr>
          <a:lstStyle/>
          <a:p>
            <a:pPr>
              <a:defRPr/>
            </a:pPr>
            <a:r>
              <a:rPr sz="2000" b="0" i="0" u="none">
                <a:solidFill>
                  <a:schemeClr val="accent6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AuthRepositoryTest</a:t>
            </a:r>
            <a:endParaRPr sz="2000" b="0" i="0" u="none">
              <a:solidFill>
                <a:schemeClr val="accent6">
                  <a:lumMod val="75000"/>
                </a:schemeClr>
              </a:solidFill>
              <a:latin typeface="Caladea"/>
              <a:ea typeface="Caladea"/>
              <a:cs typeface="Caladea"/>
            </a:endParaRPr>
          </a:p>
          <a:p>
            <a:pPr>
              <a:defRPr/>
            </a:pPr>
            <a:endParaRPr sz="1200" b="0" i="0" u="none">
              <a:solidFill>
                <a:schemeClr val="accent6">
                  <a:lumMod val="75000"/>
                </a:schemeClr>
              </a:solidFill>
              <a:latin typeface="Caladea"/>
              <a:ea typeface="Caladea"/>
              <a:cs typeface="Caladea"/>
            </a:endParaRPr>
          </a:p>
          <a:p>
            <a:pPr lvl="1">
              <a:defRPr/>
            </a:pPr>
            <a:r>
              <a:rPr sz="1400" b="0" i="1" u="none">
                <a:solidFill>
                  <a:schemeClr val="accent2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getCurrentUser_shouldReturnFirebaseUser</a:t>
            </a:r>
            <a:r>
              <a:rPr sz="1400" b="0" i="1" u="none">
                <a:solidFill>
                  <a:schemeClr val="accent2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() </a:t>
            </a:r>
            <a:endParaRPr sz="1400" b="0" i="1" u="none">
              <a:solidFill>
                <a:schemeClr val="accent2">
                  <a:lumMod val="75000"/>
                </a:schemeClr>
              </a:solidFill>
              <a:latin typeface="Caladea"/>
              <a:ea typeface="Caladea"/>
              <a:cs typeface="Caladea"/>
            </a:endParaRPr>
          </a:p>
          <a:p>
            <a:pPr marL="457200" lvl="1" indent="0">
              <a:buFont typeface="Arial"/>
              <a:buNone/>
              <a:defRPr/>
            </a:pPr>
            <a:endParaRPr sz="1400" b="0" i="1" u="none">
              <a:solidFill>
                <a:schemeClr val="bg2">
                  <a:lumMod val="25000"/>
                </a:schemeClr>
              </a:solidFill>
              <a:latin typeface="Caladea"/>
              <a:ea typeface="Caladea"/>
              <a:cs typeface="Caladea"/>
            </a:endParaRPr>
          </a:p>
          <a:p>
            <a:pPr lvl="2">
              <a:defRPr/>
            </a:pPr>
            <a:r>
              <a:rPr sz="1200" b="1" i="0" u="none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What it tests : </a:t>
            </a:r>
            <a:r>
              <a:rPr sz="1200" b="0" i="0" u="none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Verifies that </a:t>
            </a:r>
            <a:r>
              <a:rPr sz="1200" b="0" i="0" u="none">
                <a:solidFill>
                  <a:schemeClr val="accent1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AuthRepository.getCurrentUser()</a:t>
            </a:r>
            <a:r>
              <a:rPr sz="1200" b="0" i="0" u="none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 correctly communicate with Firebase Auth</a:t>
            </a:r>
            <a:r>
              <a:rPr sz="1200" b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.</a:t>
            </a:r>
            <a:endParaRPr sz="1200" b="0">
              <a:solidFill>
                <a:schemeClr val="tx1">
                  <a:lumMod val="85000"/>
                  <a:lumOff val="15000"/>
                </a:schemeClr>
              </a:solidFill>
              <a:latin typeface="Caladea"/>
              <a:ea typeface="Caladea"/>
              <a:cs typeface="Caladea"/>
            </a:endParaRPr>
          </a:p>
          <a:p>
            <a:pPr lvl="2">
              <a:defRPr/>
            </a:pPr>
            <a:r>
              <a:rPr sz="1200" b="1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How It works</a:t>
            </a:r>
            <a:r>
              <a:rPr sz="1200" b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 :</a:t>
            </a:r>
            <a:r>
              <a:rPr sz="1200" b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 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Uses Mockito's static mocking (</a:t>
            </a:r>
            <a:r>
              <a:rPr lang="fr-FR" sz="1200" b="0" i="0" u="none" strike="noStrike" cap="none" spc="0">
                <a:solidFill>
                  <a:srgbClr val="7030A0"/>
                </a:solidFill>
                <a:latin typeface="Caladea"/>
                <a:ea typeface="Caladea"/>
                <a:cs typeface="Caladea"/>
              </a:rPr>
              <a:t>mockStatic(FirebaseAuth.class)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) to fake </a:t>
            </a:r>
            <a:r>
              <a:rPr lang="fr-FR" sz="12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FirebaseAuth.getInstance()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.</a:t>
            </a:r>
            <a:endParaRPr sz="1200" b="0" i="0" u="none" strike="noStrike" cap="none" spc="0">
              <a:solidFill>
                <a:schemeClr val="tx1">
                  <a:lumMod val="85000"/>
                  <a:lumOff val="15000"/>
                </a:schemeClr>
              </a:solidFill>
              <a:latin typeface="Caladea"/>
              <a:ea typeface="Caladea"/>
              <a:cs typeface="Caladea"/>
            </a:endParaRPr>
          </a:p>
          <a:p>
            <a:pPr marL="914400" lvl="2" indent="0">
              <a:buFont typeface="Arial"/>
              <a:buNone/>
              <a:defRPr/>
            </a:pP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	When the test sets up a mock FirebaseUser, it asserts that calling </a:t>
            </a:r>
            <a:r>
              <a:rPr lang="fr-FR" sz="12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authRepository.getCurrentUser()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 returns that exact user without 	needing a live Firebase connection or an Android device.</a:t>
            </a:r>
            <a:endParaRPr sz="1400" b="0">
              <a:solidFill>
                <a:schemeClr val="tx1">
                  <a:lumMod val="85000"/>
                  <a:lumOff val="15000"/>
                </a:schemeClr>
              </a:solidFill>
              <a:latin typeface="Caladea"/>
              <a:ea typeface="Caladea"/>
              <a:cs typeface="Caladea"/>
            </a:endParaRPr>
          </a:p>
          <a:p>
            <a:pPr marL="914400" lvl="2" indent="0">
              <a:buFont typeface="Arial"/>
              <a:buNone/>
              <a:defRPr/>
            </a:pPr>
            <a:endParaRPr sz="1200" b="0">
              <a:solidFill>
                <a:schemeClr val="tx1">
                  <a:lumMod val="85000"/>
                  <a:lumOff val="15000"/>
                </a:schemeClr>
              </a:solidFill>
              <a:latin typeface="Caladea"/>
              <a:ea typeface="Caladea"/>
              <a:cs typeface="Caladea"/>
            </a:endParaRPr>
          </a:p>
          <a:p>
            <a:pPr>
              <a:defRPr/>
            </a:pPr>
            <a:r>
              <a:rPr sz="2000" b="0" i="0" u="none">
                <a:solidFill>
                  <a:schemeClr val="accent6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UserRepositoryTest</a:t>
            </a:r>
            <a:endParaRPr sz="2000" b="0" i="0" u="none">
              <a:solidFill>
                <a:schemeClr val="accent6">
                  <a:lumMod val="75000"/>
                </a:schemeClr>
              </a:solidFill>
              <a:latin typeface="Caladea"/>
              <a:ea typeface="Caladea"/>
              <a:cs typeface="Caladea"/>
            </a:endParaRPr>
          </a:p>
          <a:p>
            <a:pPr>
              <a:defRPr/>
            </a:pPr>
            <a:endParaRPr sz="1400" b="0" i="0" u="none">
              <a:solidFill>
                <a:schemeClr val="accent6">
                  <a:lumMod val="75000"/>
                </a:schemeClr>
              </a:solidFill>
              <a:latin typeface="Caladea"/>
              <a:ea typeface="Caladea"/>
              <a:cs typeface="Caladea"/>
            </a:endParaRPr>
          </a:p>
          <a:p>
            <a:pPr lvl="1">
              <a:defRPr/>
            </a:pPr>
            <a:r>
              <a:rPr sz="1400" b="0" i="1" u="none">
                <a:solidFill>
                  <a:schemeClr val="accent2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createUser_shouldCallFirestoreSetWithCorrectData()</a:t>
            </a:r>
            <a:endParaRPr sz="1400" b="0" i="1" u="none">
              <a:solidFill>
                <a:schemeClr val="accent2">
                  <a:lumMod val="75000"/>
                </a:schemeClr>
              </a:solidFill>
              <a:latin typeface="Caladea"/>
              <a:ea typeface="Caladea"/>
              <a:cs typeface="Caladea"/>
            </a:endParaRPr>
          </a:p>
          <a:p>
            <a:pPr marL="457200" lvl="1" indent="0">
              <a:buFont typeface="Arial"/>
              <a:buNone/>
              <a:defRPr/>
            </a:pPr>
            <a:endParaRPr sz="1200" b="0" i="1" u="none">
              <a:solidFill>
                <a:schemeClr val="bg2">
                  <a:lumMod val="25000"/>
                </a:schemeClr>
              </a:solidFill>
              <a:latin typeface="Caladea"/>
              <a:ea typeface="Caladea"/>
              <a:cs typeface="Caladea"/>
            </a:endParaRPr>
          </a:p>
          <a:p>
            <a:pPr lvl="2">
              <a:defRPr/>
            </a:pPr>
            <a:r>
              <a:rPr lang="fr-FR" sz="1200" b="1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What it tests : 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Verifies that when a user signs in and</a:t>
            </a:r>
            <a:r>
              <a:rPr lang="fr-FR" sz="1200" b="0" i="0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 </a:t>
            </a:r>
            <a:r>
              <a:rPr lang="fr-FR" sz="12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UserRepository.createUser()</a:t>
            </a:r>
            <a:r>
              <a:rPr lang="fr-FR" sz="1200" b="0" i="0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 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is called, it correctly structures and saves the user 	document in Firestore</a:t>
            </a:r>
            <a:r>
              <a:rPr lang="fr-FR" sz="1200" b="0" i="0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 (</a:t>
            </a:r>
            <a:r>
              <a:rPr lang="fr-FR" sz="12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usersCollection.document(uid).set(...)</a:t>
            </a:r>
            <a:r>
              <a:rPr lang="fr-FR" sz="1200" b="0" i="0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) 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with </a:t>
            </a:r>
            <a:r>
              <a:rPr lang="fr-FR" sz="12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SetOptions.merge()</a:t>
            </a:r>
            <a:r>
              <a:rPr lang="fr-FR" sz="1200" b="0" i="0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.</a:t>
            </a:r>
            <a:endParaRPr sz="1200" b="0">
              <a:solidFill>
                <a:schemeClr val="tx1">
                  <a:lumMod val="85000"/>
                  <a:lumOff val="15000"/>
                </a:schemeClr>
              </a:solidFill>
              <a:latin typeface="Caladea"/>
              <a:ea typeface="Caladea"/>
              <a:cs typeface="Caladea"/>
            </a:endParaRPr>
          </a:p>
          <a:p>
            <a:pPr lvl="2">
              <a:defRPr/>
            </a:pPr>
            <a:r>
              <a:rPr lang="fr-FR" sz="1200" b="1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How It works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 : </a:t>
            </a:r>
            <a:r>
              <a:rPr lang="fr-FR" sz="12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 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Mocks Firestore's CollectionReference and DocumentReference. It passes a mock FirebaseUser with a name and photo, then 	uses Mockito's </a:t>
            </a:r>
            <a:r>
              <a:rPr lang="fr-FR" sz="12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verify(...)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 to confirm that Firestore's </a:t>
            </a:r>
            <a:r>
              <a:rPr lang="fr-FR" sz="12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.set()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 was called with the correct data map and merge option.</a:t>
            </a:r>
            <a:endParaRPr sz="1200" i="0">
              <a:solidFill>
                <a:schemeClr val="tx1">
                  <a:lumMod val="85000"/>
                  <a:lumOff val="15000"/>
                </a:schemeClr>
              </a:solidFill>
              <a:latin typeface="Caladea"/>
              <a:ea typeface="Caladea"/>
              <a:cs typeface="Caladea"/>
            </a:endParaRPr>
          </a:p>
          <a:p>
            <a:pPr marL="914400" lvl="2" indent="0">
              <a:buFont typeface="Arial"/>
              <a:buNone/>
              <a:defRPr/>
            </a:pPr>
            <a:endParaRPr sz="1200" b="0" i="1" u="none">
              <a:solidFill>
                <a:schemeClr val="bg2">
                  <a:lumMod val="25000"/>
                </a:schemeClr>
              </a:solidFill>
              <a:latin typeface="Caladea"/>
              <a:ea typeface="Caladea"/>
              <a:cs typeface="Caladea"/>
            </a:endParaRPr>
          </a:p>
          <a:p>
            <a:pPr lvl="1">
              <a:defRPr/>
            </a:pPr>
            <a:r>
              <a:rPr sz="1400" b="0" i="1" u="none">
                <a:solidFill>
                  <a:schemeClr val="accent2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createUser_withNoName_shouldUseEmailPrefix</a:t>
            </a:r>
            <a:r>
              <a:rPr sz="1400" b="0" i="1" u="none">
                <a:solidFill>
                  <a:schemeClr val="accent2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()</a:t>
            </a:r>
            <a:endParaRPr sz="1400">
              <a:solidFill>
                <a:schemeClr val="bg2">
                  <a:lumMod val="25000"/>
                </a:schemeClr>
              </a:solidFill>
              <a:latin typeface="Caladea"/>
              <a:cs typeface="Caladea"/>
            </a:endParaRPr>
          </a:p>
          <a:p>
            <a:pPr marL="457200" lvl="1" indent="0">
              <a:buFont typeface="Arial"/>
              <a:buNone/>
              <a:defRPr/>
            </a:pPr>
            <a:endParaRPr sz="1200">
              <a:solidFill>
                <a:schemeClr val="bg2">
                  <a:lumMod val="25000"/>
                </a:schemeClr>
              </a:solidFill>
              <a:latin typeface="Caladea"/>
              <a:cs typeface="Caladea"/>
            </a:endParaRPr>
          </a:p>
          <a:p>
            <a:pPr lvl="2">
              <a:defRPr/>
            </a:pPr>
            <a:r>
              <a:rPr lang="fr-FR" sz="1200" b="1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What it tests : 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Tests the edge case fallback where a Firebase user has no display name (</a:t>
            </a:r>
            <a:r>
              <a:rPr lang="fr-FR" sz="12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getDisplayName() == null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)</a:t>
            </a:r>
            <a:endParaRPr sz="1200" b="0">
              <a:solidFill>
                <a:schemeClr val="tx1">
                  <a:lumMod val="85000"/>
                  <a:lumOff val="15000"/>
                </a:schemeClr>
              </a:solidFill>
              <a:latin typeface="Caladea"/>
              <a:ea typeface="Caladea"/>
              <a:cs typeface="Caladea"/>
            </a:endParaRPr>
          </a:p>
          <a:p>
            <a:pPr lvl="2">
              <a:defRPr/>
            </a:pPr>
            <a:r>
              <a:rPr lang="fr-FR" sz="1200" b="1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How It works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 : </a:t>
            </a:r>
            <a:r>
              <a:rPr lang="fr-FR" sz="12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 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Sets up a user with an email (</a:t>
            </a:r>
            <a:r>
              <a:rPr lang="fr-FR" sz="1200" b="0" i="0" u="none" strike="noStrike" cap="none" spc="0">
                <a:solidFill>
                  <a:srgbClr val="002060"/>
                </a:solidFill>
                <a:latin typeface="Caladea"/>
                <a:ea typeface="Caladea"/>
                <a:cs typeface="Caladea"/>
              </a:rPr>
              <a:t>fabien@test.com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) but no display name. Using Mockito's </a:t>
            </a:r>
            <a:r>
              <a:rPr lang="fr-FR" sz="12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argThat(...)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, it verifies that the 	repository intelligently extracts "fabien" from the email prefix to use as the default username.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.</a:t>
            </a:r>
            <a:endParaRPr sz="1000" i="0">
              <a:solidFill>
                <a:schemeClr val="tx1">
                  <a:lumMod val="85000"/>
                  <a:lumOff val="15000"/>
                </a:schemeClr>
              </a:solidFill>
              <a:latin typeface="Caladea"/>
              <a:ea typeface="Caladea"/>
              <a:cs typeface="Caladea"/>
            </a:endParaRPr>
          </a:p>
          <a:p>
            <a:pPr lvl="2">
              <a:defRPr/>
            </a:pPr>
            <a:endParaRPr sz="1400">
              <a:solidFill>
                <a:schemeClr val="bg2">
                  <a:lumMod val="25000"/>
                </a:schemeClr>
              </a:solidFill>
              <a:latin typeface="Caladea"/>
              <a:cs typeface="Calad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342688" name="Titre 1"/>
          <p:cNvSpPr>
            <a:spLocks noGrp="1"/>
          </p:cNvSpPr>
          <p:nvPr>
            <p:ph type="title"/>
          </p:nvPr>
        </p:nvSpPr>
        <p:spPr bwMode="auto">
          <a:xfrm flipH="0" flipV="0">
            <a:off x="838197" y="66299"/>
            <a:ext cx="10515600" cy="830170"/>
          </a:xfrm>
        </p:spPr>
        <p:txBody>
          <a:bodyPr/>
          <a:lstStyle/>
          <a:p>
            <a:pPr algn="ctr">
              <a:defRPr/>
            </a:pPr>
            <a:r>
              <a:rPr>
                <a:solidFill>
                  <a:schemeClr val="accent5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Tests Unitaires</a:t>
            </a:r>
            <a:endParaRPr/>
          </a:p>
        </p:txBody>
      </p:sp>
      <p:sp>
        <p:nvSpPr>
          <p:cNvPr id="1483361614" name="Espace réservé du contenu 2"/>
          <p:cNvSpPr>
            <a:spLocks noGrp="1"/>
          </p:cNvSpPr>
          <p:nvPr>
            <p:ph idx="1"/>
          </p:nvPr>
        </p:nvSpPr>
        <p:spPr bwMode="auto">
          <a:xfrm rot="0" flipH="0" flipV="0">
            <a:off x="838800" y="896470"/>
            <a:ext cx="10515600" cy="564029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Autofit/>
          </a:bodyPr>
          <a:lstStyle/>
          <a:p>
            <a:pPr>
              <a:defRPr/>
            </a:pPr>
            <a:r>
              <a:rPr sz="2000" b="0" i="0" u="none">
                <a:solidFill>
                  <a:schemeClr val="accent6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MapsViewModelTest</a:t>
            </a:r>
            <a:endParaRPr sz="2000" b="0" i="0" u="none">
              <a:solidFill>
                <a:schemeClr val="accent6">
                  <a:lumMod val="75000"/>
                </a:schemeClr>
              </a:solidFill>
              <a:latin typeface="Caladea"/>
              <a:ea typeface="Caladea"/>
              <a:cs typeface="Caladea"/>
            </a:endParaRPr>
          </a:p>
          <a:p>
            <a:pPr>
              <a:defRPr/>
            </a:pPr>
            <a:endParaRPr sz="1200">
              <a:solidFill>
                <a:schemeClr val="accent6">
                  <a:lumMod val="75000"/>
                </a:schemeClr>
              </a:solidFill>
              <a:latin typeface="Caladea"/>
              <a:ea typeface="Caladea"/>
              <a:cs typeface="Caladea"/>
            </a:endParaRPr>
          </a:p>
          <a:p>
            <a:pPr lvl="1">
              <a:defRPr/>
            </a:pPr>
            <a:r>
              <a:rPr sz="1400" b="0" i="1" u="none">
                <a:solidFill>
                  <a:schemeClr val="accent2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locationUpdate_shouldTriggerRestaurantFetch</a:t>
            </a:r>
            <a:r>
              <a:rPr sz="1400" b="0" i="1" u="none">
                <a:solidFill>
                  <a:schemeClr val="accent2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()</a:t>
            </a:r>
            <a:endParaRPr sz="1400" i="1">
              <a:solidFill>
                <a:schemeClr val="bg2">
                  <a:lumMod val="25000"/>
                </a:schemeClr>
              </a:solidFill>
              <a:latin typeface="Caladea"/>
              <a:cs typeface="Caladea"/>
            </a:endParaRPr>
          </a:p>
          <a:p>
            <a:pPr lvl="1">
              <a:defRPr/>
            </a:pPr>
            <a:endParaRPr sz="1200" i="1">
              <a:solidFill>
                <a:schemeClr val="bg2">
                  <a:lumMod val="25000"/>
                </a:schemeClr>
              </a:solidFill>
              <a:latin typeface="Caladea"/>
              <a:cs typeface="Caladea"/>
            </a:endParaRPr>
          </a:p>
          <a:p>
            <a:pPr lvl="2">
              <a:defRPr/>
            </a:pPr>
            <a:r>
              <a:rPr lang="fr-FR" sz="1200" b="1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What it tests : 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Verifies the reactive event stream between location updates and restaurant fetching.</a:t>
            </a:r>
            <a:endParaRPr sz="1200" b="0">
              <a:solidFill>
                <a:schemeClr val="tx1">
                  <a:lumMod val="85000"/>
                  <a:lumOff val="15000"/>
                </a:schemeClr>
              </a:solidFill>
              <a:latin typeface="Caladea"/>
              <a:ea typeface="Caladea"/>
              <a:cs typeface="Caladea"/>
            </a:endParaRPr>
          </a:p>
          <a:p>
            <a:pPr lvl="2">
              <a:defRPr/>
            </a:pPr>
            <a:r>
              <a:rPr lang="fr-FR" sz="1200" b="1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How It works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 : 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Uses an</a:t>
            </a:r>
            <a:r>
              <a:rPr lang="fr-FR" sz="1200" b="0" i="0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 </a:t>
            </a:r>
            <a:r>
              <a:rPr lang="fr-FR" sz="12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InstantTaskExecutorRule</a:t>
            </a:r>
            <a:r>
              <a:rPr lang="fr-FR" sz="1200" b="0" i="0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 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to run LiveData tasks synchronously on the test thread. When the test pushes a mock 	Location into locationRepository's LiveData, it verifies that MapsViewModel immediately reacts by triggering </a:t>
            </a:r>
            <a:r>
              <a:rPr lang="fr-FR" sz="1200" b="0" i="0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	</a:t>
            </a:r>
            <a:r>
              <a:rPr lang="fr-FR" sz="12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restaurantRepository.fetchNearbyRestaurants(mockLocation)</a:t>
            </a:r>
            <a:r>
              <a:rPr lang="fr-FR" sz="1200" b="0" i="0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.</a:t>
            </a:r>
            <a:endParaRPr sz="1400" i="1">
              <a:solidFill>
                <a:schemeClr val="bg2">
                  <a:lumMod val="25000"/>
                </a:schemeClr>
              </a:solidFill>
              <a:latin typeface="Caladea"/>
              <a:cs typeface="Caladea"/>
            </a:endParaRPr>
          </a:p>
          <a:p>
            <a:pPr marL="914400" lvl="2" indent="0">
              <a:buFont typeface="Arial"/>
              <a:buNone/>
              <a:defRPr/>
            </a:pPr>
            <a:endParaRPr sz="1200" i="1">
              <a:solidFill>
                <a:schemeClr val="bg2">
                  <a:lumMod val="25000"/>
                </a:schemeClr>
              </a:solidFill>
              <a:latin typeface="Caladea"/>
              <a:cs typeface="Caladea"/>
            </a:endParaRPr>
          </a:p>
          <a:p>
            <a:pPr lvl="1">
              <a:defRPr/>
            </a:pPr>
            <a:r>
              <a:rPr sz="1400" b="0" i="1" u="none">
                <a:solidFill>
                  <a:schemeClr val="accent2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searchFilter_shouldReturnOnlyMatchingRestaurants</a:t>
            </a:r>
            <a:r>
              <a:rPr sz="1400" b="0" i="1" u="none">
                <a:solidFill>
                  <a:schemeClr val="accent2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()</a:t>
            </a:r>
            <a:endParaRPr sz="1400" i="1">
              <a:solidFill>
                <a:schemeClr val="bg2">
                  <a:lumMod val="25000"/>
                </a:schemeClr>
              </a:solidFill>
              <a:latin typeface="Caladea"/>
              <a:cs typeface="Caladea"/>
            </a:endParaRPr>
          </a:p>
          <a:p>
            <a:pPr marL="457200" lvl="1" indent="0">
              <a:buFont typeface="Arial"/>
              <a:buNone/>
              <a:defRPr/>
            </a:pPr>
            <a:endParaRPr sz="1200" i="1">
              <a:solidFill>
                <a:schemeClr val="bg2">
                  <a:lumMod val="25000"/>
                </a:schemeClr>
              </a:solidFill>
              <a:latin typeface="Caladea"/>
              <a:cs typeface="Caladea"/>
            </a:endParaRPr>
          </a:p>
          <a:p>
            <a:pPr lvl="2">
              <a:defRPr/>
            </a:pPr>
            <a:r>
              <a:rPr lang="fr-FR" sz="1200" b="1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What it tests : 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Verifies the search bar filtering logic.</a:t>
            </a:r>
            <a:endParaRPr sz="1200" b="0">
              <a:solidFill>
                <a:schemeClr val="tx1">
                  <a:lumMod val="85000"/>
                  <a:lumOff val="15000"/>
                </a:schemeClr>
              </a:solidFill>
              <a:latin typeface="Caladea"/>
              <a:ea typeface="Caladea"/>
              <a:cs typeface="Caladea"/>
            </a:endParaRPr>
          </a:p>
          <a:p>
            <a:pPr lvl="2">
              <a:defRPr/>
            </a:pPr>
            <a:r>
              <a:rPr lang="fr-FR" sz="1200" b="1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How It works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 : </a:t>
            </a:r>
            <a:r>
              <a:rPr lang="fr-FR" sz="12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 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Pushes a list of mock restaurants </a:t>
            </a:r>
            <a:r>
              <a:rPr lang="fr-FR" sz="1200" b="0" i="0" u="none" strike="noStrike" cap="none" spc="0">
                <a:solidFill>
                  <a:schemeClr val="accent5">
                    <a:lumMod val="50000"/>
                  </a:schemeClr>
                </a:solidFill>
                <a:latin typeface="Caladea"/>
                <a:ea typeface="Caladea"/>
                <a:cs typeface="Caladea"/>
              </a:rPr>
              <a:t>(e.g., "Pizza Palace", "Burger King", "Pizza Hut")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 into the ViewModel's livedata, sets the  	search query to</a:t>
            </a:r>
            <a:r>
              <a:rPr lang="fr-FR" sz="1200" b="0" i="0" u="none" strike="noStrike" cap="none" spc="0">
                <a:solidFill>
                  <a:schemeClr val="accent5">
                    <a:lumMod val="50000"/>
                  </a:schemeClr>
                </a:solidFill>
                <a:latin typeface="Caladea"/>
                <a:ea typeface="Caladea"/>
                <a:cs typeface="Caladea"/>
              </a:rPr>
              <a:t> "Pizza"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, and asserts that the filtered LiveData correctly returns only the 2 pizza-related restaurants.</a:t>
            </a:r>
            <a:endParaRPr sz="1200" i="1">
              <a:solidFill>
                <a:schemeClr val="bg2">
                  <a:lumMod val="25000"/>
                </a:schemeClr>
              </a:solidFill>
              <a:latin typeface="Caladea"/>
              <a:cs typeface="Caladea"/>
            </a:endParaRPr>
          </a:p>
          <a:p>
            <a:pPr lvl="1">
              <a:defRPr/>
            </a:pPr>
            <a:endParaRPr sz="1200">
              <a:solidFill>
                <a:schemeClr val="bg2">
                  <a:lumMod val="25000"/>
                </a:schemeClr>
              </a:solidFill>
              <a:latin typeface="Caladea"/>
              <a:ea typeface="Caladea"/>
              <a:cs typeface="Caladea"/>
            </a:endParaRPr>
          </a:p>
          <a:p>
            <a:pPr>
              <a:defRPr/>
            </a:pPr>
            <a:r>
              <a:rPr sz="2000" b="0" i="0" u="none">
                <a:solidFill>
                  <a:schemeClr val="accent6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RestaurantDetailViewModelTest</a:t>
            </a:r>
            <a:endParaRPr sz="2000">
              <a:solidFill>
                <a:schemeClr val="accent6">
                  <a:lumMod val="75000"/>
                </a:schemeClr>
              </a:solidFill>
              <a:latin typeface="Caladea"/>
              <a:ea typeface="Caladea"/>
              <a:cs typeface="Caladea"/>
            </a:endParaRPr>
          </a:p>
          <a:p>
            <a:pPr>
              <a:defRPr/>
            </a:pPr>
            <a:endParaRPr sz="1200">
              <a:solidFill>
                <a:schemeClr val="accent6">
                  <a:lumMod val="75000"/>
                </a:schemeClr>
              </a:solidFill>
              <a:latin typeface="Caladea"/>
              <a:ea typeface="Caladea"/>
              <a:cs typeface="Caladea"/>
            </a:endParaRPr>
          </a:p>
          <a:p>
            <a:pPr lvl="1">
              <a:defRPr/>
            </a:pPr>
            <a:r>
              <a:rPr sz="1400" b="0" i="1" u="none">
                <a:solidFill>
                  <a:schemeClr val="accent2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setRestaurantId_shouldFetchDetailsAndWorkmates</a:t>
            </a:r>
            <a:r>
              <a:rPr sz="1400" b="0" i="1" u="none">
                <a:solidFill>
                  <a:schemeClr val="accent2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()</a:t>
            </a:r>
            <a:endParaRPr sz="1400" b="0" i="1" u="none">
              <a:solidFill>
                <a:schemeClr val="accent2">
                  <a:lumMod val="75000"/>
                </a:schemeClr>
              </a:solidFill>
              <a:latin typeface="Caladea"/>
              <a:ea typeface="Caladea"/>
              <a:cs typeface="Caladea"/>
            </a:endParaRPr>
          </a:p>
          <a:p>
            <a:pPr lvl="1">
              <a:defRPr/>
            </a:pPr>
            <a:endParaRPr sz="1200" b="0" i="1" u="none">
              <a:solidFill>
                <a:schemeClr val="bg2">
                  <a:lumMod val="25000"/>
                </a:schemeClr>
              </a:solidFill>
              <a:latin typeface="Caladea"/>
              <a:ea typeface="Caladea"/>
              <a:cs typeface="Caladea"/>
            </a:endParaRPr>
          </a:p>
          <a:p>
            <a:pPr lvl="2">
              <a:defRPr/>
            </a:pPr>
            <a:r>
              <a:rPr lang="fr-FR" sz="1200" b="1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What it tests : 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Verifies that selecting a restaurant properly coordinates data fetching across multiple repositories.</a:t>
            </a:r>
            <a:endParaRPr sz="1200" b="0">
              <a:solidFill>
                <a:schemeClr val="tx1">
                  <a:lumMod val="85000"/>
                  <a:lumOff val="15000"/>
                </a:schemeClr>
              </a:solidFill>
              <a:latin typeface="Caladea"/>
              <a:ea typeface="Caladea"/>
              <a:cs typeface="Caladea"/>
            </a:endParaRPr>
          </a:p>
          <a:p>
            <a:pPr lvl="2">
              <a:defRPr/>
            </a:pPr>
            <a:r>
              <a:rPr lang="fr-FR" sz="1200" b="1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How It works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 : </a:t>
            </a:r>
            <a:r>
              <a:rPr lang="fr-FR" sz="1200" b="0" i="0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When </a:t>
            </a:r>
            <a:r>
              <a:rPr lang="fr-FR" sz="12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setRestaurantId("test_id")</a:t>
            </a:r>
            <a:r>
              <a:rPr lang="fr-FR" sz="1200" b="0" i="0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 is called on the ViewModel, it verifies that the ViewModel simultaneously requests 	restaurant details from</a:t>
            </a:r>
            <a:r>
              <a:rPr lang="fr-FR" sz="12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 r</a:t>
            </a:r>
            <a:r>
              <a:rPr lang="fr-FR" sz="12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estaurantRepository</a:t>
            </a:r>
            <a:r>
              <a:rPr lang="fr-FR" sz="1200" b="0" i="0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 and social data </a:t>
            </a:r>
            <a:r>
              <a:rPr lang="fr-FR" sz="1200" b="0" i="0" u="none" strike="noStrike" cap="none" spc="0">
                <a:solidFill>
                  <a:schemeClr val="accent5">
                    <a:lumMod val="50000"/>
                  </a:schemeClr>
                </a:solidFill>
                <a:latin typeface="Caladea"/>
                <a:ea typeface="Caladea"/>
                <a:cs typeface="Caladea"/>
              </a:rPr>
              <a:t>(workmates &amp; likes)</a:t>
            </a:r>
            <a:r>
              <a:rPr lang="fr-FR" sz="1200" b="0" i="0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 from userRepository.</a:t>
            </a:r>
            <a:endParaRPr sz="2000">
              <a:solidFill>
                <a:schemeClr val="accent6">
                  <a:lumMod val="75000"/>
                </a:schemeClr>
              </a:solidFill>
              <a:latin typeface="Caladea"/>
              <a:ea typeface="Caladea"/>
              <a:cs typeface="Calad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898298" name="Titre 1"/>
          <p:cNvSpPr>
            <a:spLocks noGrp="1"/>
          </p:cNvSpPr>
          <p:nvPr>
            <p:ph type="title"/>
          </p:nvPr>
        </p:nvSpPr>
        <p:spPr bwMode="auto">
          <a:xfrm flipH="0" flipV="0">
            <a:off x="838197" y="365122"/>
            <a:ext cx="10515600" cy="1016931"/>
          </a:xfrm>
        </p:spPr>
        <p:txBody>
          <a:bodyPr/>
          <a:lstStyle/>
          <a:p>
            <a:pPr algn="ctr">
              <a:defRPr/>
            </a:pPr>
            <a:r>
              <a:rPr>
                <a:solidFill>
                  <a:schemeClr val="accent5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Tests Unitaires</a:t>
            </a:r>
            <a:endParaRPr/>
          </a:p>
        </p:txBody>
      </p:sp>
      <p:sp>
        <p:nvSpPr>
          <p:cNvPr id="1496098268" name="Espace réservé du contenu 2"/>
          <p:cNvSpPr>
            <a:spLocks noGrp="1"/>
          </p:cNvSpPr>
          <p:nvPr>
            <p:ph idx="1"/>
          </p:nvPr>
        </p:nvSpPr>
        <p:spPr bwMode="auto">
          <a:xfrm rot="0" flipH="0" flipV="0">
            <a:off x="838800" y="1512000"/>
            <a:ext cx="10515600" cy="466416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Autofit/>
          </a:bodyPr>
          <a:lstStyle/>
          <a:p>
            <a:pPr>
              <a:defRPr/>
            </a:pPr>
            <a:r>
              <a:rPr sz="2000" b="0" i="0" u="none">
                <a:solidFill>
                  <a:schemeClr val="accent6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WorkmatesViewModelTest</a:t>
            </a:r>
            <a:endParaRPr sz="2000">
              <a:solidFill>
                <a:schemeClr val="accent6">
                  <a:lumMod val="75000"/>
                </a:schemeClr>
              </a:solidFill>
              <a:latin typeface="Caladea"/>
              <a:ea typeface="Caladea"/>
              <a:cs typeface="Caladea"/>
            </a:endParaRPr>
          </a:p>
          <a:p>
            <a:pPr lvl="1">
              <a:defRPr/>
            </a:pPr>
            <a:r>
              <a:rPr lang="fr-FR" sz="1400" b="0" i="1" u="none" strike="noStrike" cap="none" spc="0">
                <a:solidFill>
                  <a:schemeClr val="accent2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searchFilter_shouldReturnOnlyWorkmatesEatingAtMatchingRestaurant</a:t>
            </a:r>
            <a:r>
              <a:rPr lang="fr-FR" sz="1400" b="0" i="1" u="none" strike="noStrike" cap="none" spc="0">
                <a:solidFill>
                  <a:schemeClr val="accent2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()</a:t>
            </a:r>
            <a:endParaRPr sz="1400">
              <a:solidFill>
                <a:schemeClr val="accent2">
                  <a:lumMod val="75000"/>
                </a:schemeClr>
              </a:solidFill>
              <a:latin typeface="Caladea"/>
              <a:ea typeface="Caladea"/>
              <a:cs typeface="Caladea"/>
            </a:endParaRPr>
          </a:p>
          <a:p>
            <a:pPr lvl="2">
              <a:defRPr/>
            </a:pPr>
            <a:r>
              <a:rPr lang="fr-FR" sz="1200" b="1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What it tests : 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Tests filtering in the Workmates screen by restaurant name.</a:t>
            </a:r>
            <a:endParaRPr sz="1200" b="0">
              <a:solidFill>
                <a:schemeClr val="tx1">
                  <a:lumMod val="85000"/>
                  <a:lumOff val="15000"/>
                </a:schemeClr>
              </a:solidFill>
              <a:latin typeface="Caladea"/>
              <a:ea typeface="Caladea"/>
              <a:cs typeface="Caladea"/>
            </a:endParaRPr>
          </a:p>
          <a:p>
            <a:pPr lvl="2">
              <a:defRPr/>
            </a:pPr>
            <a:r>
              <a:rPr lang="fr-FR" sz="1200" b="1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How It works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 : </a:t>
            </a:r>
            <a:r>
              <a:rPr lang="fr-FR" sz="1200" b="0" i="0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Populates mock users who chose different restaurants </a:t>
            </a:r>
            <a:r>
              <a:rPr lang="fr-FR" sz="1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("Pizza Palace", "Burger King", "Pizza Hut")</a:t>
            </a:r>
            <a:r>
              <a:rPr lang="fr-FR" sz="1200" b="0" i="0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, applies a search query for </a:t>
            </a:r>
            <a:r>
              <a:rPr lang="fr-FR" sz="12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"Pizza"</a:t>
            </a:r>
            <a:r>
              <a:rPr lang="fr-FR" sz="1200" b="0" i="0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, and asserts that the output list correctly filters out non-matching workmates.</a:t>
            </a:r>
            <a:endParaRPr sz="1000" i="0">
              <a:solidFill>
                <a:schemeClr val="accent6">
                  <a:lumMod val="75000"/>
                </a:schemeClr>
              </a:solidFill>
              <a:latin typeface="Caladea"/>
              <a:ea typeface="Caladea"/>
              <a:cs typeface="Caladea"/>
            </a:endParaRPr>
          </a:p>
          <a:p>
            <a:pPr>
              <a:defRPr/>
            </a:pPr>
            <a:r>
              <a:rPr lang="fr-FR" sz="20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MainViewModelTest</a:t>
            </a:r>
            <a:endParaRPr lang="fr-FR" sz="2000" b="0" i="0" u="none" strike="noStrike" cap="none" spc="0">
              <a:solidFill>
                <a:schemeClr val="accent6">
                  <a:lumMod val="75000"/>
                </a:schemeClr>
              </a:solidFill>
              <a:latin typeface="Times New Roman"/>
              <a:cs typeface="Times New Roman"/>
            </a:endParaRPr>
          </a:p>
          <a:p>
            <a:pPr lvl="1">
              <a:defRPr/>
            </a:pPr>
            <a:r>
              <a:rPr lang="fr-FR" sz="1400" b="0" i="1" u="none" strike="noStrike" cap="none" spc="0">
                <a:solidFill>
                  <a:schemeClr val="accent2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createUser_shouldCallUserRepository()</a:t>
            </a:r>
            <a:endParaRPr lang="fr-FR" sz="1400" b="0" i="1" u="none" strike="noStrike" cap="none" spc="0">
              <a:solidFill>
                <a:schemeClr val="accent2">
                  <a:lumMod val="75000"/>
                </a:schemeClr>
              </a:solidFill>
              <a:latin typeface="Caladea"/>
              <a:ea typeface="Caladea"/>
              <a:cs typeface="Caladea"/>
            </a:endParaRPr>
          </a:p>
          <a:p>
            <a:pPr lvl="2">
              <a:defRPr/>
            </a:pPr>
            <a:r>
              <a:rPr lang="fr-FR" sz="1200" b="1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What it tests : 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Verifies that </a:t>
            </a:r>
            <a:r>
              <a:rPr lang="fr-FR" sz="12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MainViewModel.createUser()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 correctly bridges authentication state with user persistence.</a:t>
            </a:r>
            <a:endParaRPr sz="1200" b="0">
              <a:solidFill>
                <a:schemeClr val="tx1">
                  <a:lumMod val="85000"/>
                  <a:lumOff val="15000"/>
                </a:schemeClr>
              </a:solidFill>
              <a:latin typeface="Caladea"/>
              <a:ea typeface="Caladea"/>
              <a:cs typeface="Caladea"/>
            </a:endParaRPr>
          </a:p>
          <a:p>
            <a:pPr lvl="2">
              <a:defRPr/>
            </a:pPr>
            <a:r>
              <a:rPr lang="fr-FR" sz="1200" b="1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How It works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 : </a:t>
            </a:r>
            <a:r>
              <a:rPr lang="fr-FR" sz="12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 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Mocks the current authenticated user from AuthRepository and verifies that calling</a:t>
            </a:r>
            <a:r>
              <a:rPr lang="fr-FR" sz="12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 mainViewModel.createUser()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 delegates 	the task properly to </a:t>
            </a:r>
            <a:r>
              <a:rPr lang="fr-FR" sz="12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userRepository.createUser(mockUser)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.</a:t>
            </a:r>
            <a:endParaRPr sz="1000">
              <a:solidFill>
                <a:schemeClr val="accent6">
                  <a:lumMod val="75000"/>
                </a:schemeClr>
              </a:solidFill>
              <a:latin typeface="Caladea"/>
              <a:ea typeface="Caladea"/>
              <a:cs typeface="Caladea"/>
            </a:endParaRPr>
          </a:p>
          <a:p>
            <a:pPr>
              <a:defRPr/>
            </a:pPr>
            <a:r>
              <a:rPr lang="fr-FR" sz="2000" b="0" i="0" u="none" strike="noStrike" cap="none" spc="0">
                <a:solidFill>
                  <a:schemeClr val="accent6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ChatViewModelTest</a:t>
            </a:r>
            <a:endParaRPr sz="2000">
              <a:solidFill>
                <a:schemeClr val="accent6">
                  <a:lumMod val="75000"/>
                </a:schemeClr>
              </a:solidFill>
              <a:latin typeface="Caladea"/>
              <a:ea typeface="Caladea"/>
              <a:cs typeface="Caladea"/>
            </a:endParaRPr>
          </a:p>
          <a:p>
            <a:pPr lvl="1">
              <a:defRPr/>
            </a:pPr>
            <a:r>
              <a:rPr lang="fr-FR" sz="1400" b="0" i="1" u="none" strike="noStrike" cap="none" spc="0">
                <a:solidFill>
                  <a:schemeClr val="accent2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sendMessage_shouldCallChatRepositoryWhenUserValid()</a:t>
            </a:r>
            <a:endParaRPr sz="2000">
              <a:solidFill>
                <a:schemeClr val="accent2">
                  <a:lumMod val="75000"/>
                </a:schemeClr>
              </a:solidFill>
              <a:latin typeface="Caladea"/>
              <a:ea typeface="Caladea"/>
              <a:cs typeface="Caladea"/>
            </a:endParaRPr>
          </a:p>
          <a:p>
            <a:pPr lvl="2">
              <a:defRPr/>
            </a:pPr>
            <a:r>
              <a:rPr lang="fr-FR" sz="1200" b="1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What it tests : 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Verifies that sending a chat message correctly packages user info and text into a </a:t>
            </a:r>
            <a:r>
              <a:rPr lang="fr-FR" sz="1200" b="0" i="0" u="none" strike="noStrike" cap="none" spc="0">
                <a:solidFill>
                  <a:srgbClr val="7030A0"/>
                </a:solidFill>
                <a:latin typeface="Caladea"/>
                <a:ea typeface="Caladea"/>
                <a:cs typeface="Caladea"/>
              </a:rPr>
              <a:t>Message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 model.</a:t>
            </a:r>
            <a:endParaRPr sz="1200" b="0">
              <a:solidFill>
                <a:schemeClr val="tx1">
                  <a:lumMod val="85000"/>
                  <a:lumOff val="15000"/>
                </a:schemeClr>
              </a:solidFill>
              <a:latin typeface="Caladea"/>
              <a:ea typeface="Caladea"/>
              <a:cs typeface="Caladea"/>
            </a:endParaRPr>
          </a:p>
          <a:p>
            <a:pPr lvl="2">
              <a:defRPr/>
            </a:pPr>
            <a:r>
              <a:rPr lang="fr-FR" sz="1200" b="1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How It works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 : </a:t>
            </a:r>
            <a:r>
              <a:rPr lang="fr-FR" sz="1200" b="0" i="1" u="none" strike="noStrike" cap="none" spc="0">
                <a:solidFill>
                  <a:schemeClr val="bg2">
                    <a:lumMod val="25000"/>
                  </a:schemeClr>
                </a:solidFill>
                <a:latin typeface="Caladea"/>
                <a:ea typeface="Caladea"/>
                <a:cs typeface="Caladea"/>
              </a:rPr>
              <a:t> 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Mocks a logged-in Firebase user with a UID, display name, and photo URL. When </a:t>
            </a:r>
            <a:r>
              <a:rPr lang="fr-FR" sz="12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chatViewModel.sendMessage("Hello 	World!")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 is invoked, it uses Mockito </a:t>
            </a:r>
            <a:r>
              <a:rPr lang="fr-FR" sz="12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verify(...)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 to confirm that a properly constructed </a:t>
            </a:r>
            <a:r>
              <a:rPr lang="fr-FR" sz="1200" b="0" i="0" u="none" strike="noStrike" cap="none" spc="0">
                <a:solidFill>
                  <a:srgbClr val="7030A0"/>
                </a:solidFill>
                <a:latin typeface="Caladea"/>
                <a:ea typeface="Caladea"/>
                <a:cs typeface="Caladea"/>
              </a:rPr>
              <a:t>Message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 object was handed off to 	</a:t>
            </a:r>
            <a:r>
              <a:rPr lang="fr-FR" sz="1200" b="0" i="0" u="none" strike="noStrike" cap="none" spc="0">
                <a:solidFill>
                  <a:schemeClr val="accent1">
                    <a:lumMod val="75000"/>
                  </a:schemeClr>
                </a:solidFill>
                <a:latin typeface="Caladea"/>
                <a:ea typeface="Caladea"/>
                <a:cs typeface="Caladea"/>
              </a:rPr>
              <a:t>chatRepository.sendMessage()</a:t>
            </a:r>
            <a:r>
              <a:rPr lang="fr-FR" sz="1200" b="0" i="0" u="none" strike="noStrike" cap="none" spc="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.</a:t>
            </a:r>
            <a:endParaRPr sz="1600">
              <a:solidFill>
                <a:schemeClr val="accent6">
                  <a:lumMod val="75000"/>
                </a:schemeClr>
              </a:solidFill>
              <a:latin typeface="Caladea"/>
              <a:ea typeface="Caladea"/>
              <a:cs typeface="Calad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</cp:revision>
  <dcterms:created xsi:type="dcterms:W3CDTF">2012-12-03T06:56:55Z</dcterms:created>
  <dcterms:modified xsi:type="dcterms:W3CDTF">2026-09-09T16:17:07Z</dcterms:modified>
</cp:coreProperties>
</file>